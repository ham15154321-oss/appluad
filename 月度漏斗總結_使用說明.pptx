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用中壢二部真實數字講：108 個人報到，96 個談到，18 個試聽，6 個註冊、12 個還在追。三個百分比就是三道關卡的通過率，綠框是你這關最強，紅框是你這關最弱、先補這裡。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三步：同步、填兩格、看一眼貼出去。強調「當下註冊」是唯一要人填的數字，其他系統算。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633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HOW TO READ · 月度漏斗總結</a:t>
            </a:r>
            <a:endParaRPr lang="en-US" sz="900" dirty="0"/>
          </a:p>
        </p:txBody>
      </p:sp>
      <p:pic>
        <p:nvPicPr>
          <p:cNvPr id="4" name="Image 0" descr="logo-15th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329184"/>
            <a:ext cx="9601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一張卡，就是一個月的</a:t>
            </a:r>
            <a:pPr indent="0" marL="0">
              <a:buNone/>
            </a:pPr>
            <a:r>
              <a:rPr lang="en-US" sz="320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招生故事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813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像漏斗一樣：上面進來很多人，一關一關往下走，最後留下來的就是註冊。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2695194" cy="2148840"/>
          </a:xfrm>
          <a:prstGeom prst="roundRect">
            <a:avLst>
              <a:gd name="adj" fmla="val 766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258568"/>
            <a:ext cx="2237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總報到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532888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108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64408"/>
            <a:ext cx="2237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這個月有 108 個人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走進學院報到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867912"/>
            <a:ext cx="2237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自動抓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3134106" y="262432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16986" y="2057400"/>
            <a:ext cx="2695194" cy="2148840"/>
          </a:xfrm>
          <a:prstGeom prst="roundRect">
            <a:avLst>
              <a:gd name="adj" fmla="val 766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45586" y="2258568"/>
            <a:ext cx="2237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實際面談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545586" y="2532888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96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3545586" y="3264408"/>
            <a:ext cx="2237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其中 96 個人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坐下來跟業務聊過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545586" y="3867912"/>
            <a:ext cx="2237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自動抓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993892" y="262432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76772" y="2057400"/>
            <a:ext cx="2695194" cy="2148840"/>
          </a:xfrm>
          <a:prstGeom prst="roundRect">
            <a:avLst>
              <a:gd name="adj" fmla="val 766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5372" y="2258568"/>
            <a:ext cx="2237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安排試聽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05372" y="2532888"/>
            <a:ext cx="223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18</a:t>
            </a:r>
            <a:endParaRPr lang="en-US" sz="4400" dirty="0"/>
          </a:p>
        </p:txBody>
      </p:sp>
      <p:sp>
        <p:nvSpPr>
          <p:cNvPr id="22" name="Text 19"/>
          <p:cNvSpPr txBox="1"/>
          <p:nvPr/>
        </p:nvSpPr>
        <p:spPr>
          <a:xfrm>
            <a:off x="6405372" y="3264408"/>
            <a:ext cx="2237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18 個人願意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先來上一堂試試看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05372" y="3867912"/>
            <a:ext cx="2237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33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報名 ＋ 額外報備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8853678" y="262432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036558" y="2057400"/>
            <a:ext cx="2695194" cy="2148840"/>
          </a:xfrm>
          <a:prstGeom prst="roundRect">
            <a:avLst>
              <a:gd name="adj" fmla="val 7660"/>
            </a:avLst>
          </a:prstGeom>
          <a:solidFill>
            <a:srgbClr val="231146"/>
          </a:solidFill>
          <a:ln w="12700">
            <a:solidFill>
              <a:srgbClr val="23114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65158" y="2258568"/>
            <a:ext cx="2237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試聽後結果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265158" y="2560320"/>
            <a:ext cx="22379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FF33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個人註冊了</a:t>
            </a:r>
            <a:endParaRPr lang="en-US" sz="3400" dirty="0"/>
          </a:p>
        </p:txBody>
      </p:sp>
      <p:sp>
        <p:nvSpPr>
          <p:cNvPr id="28" name="Shape 25"/>
          <p:cNvSpPr/>
          <p:nvPr/>
        </p:nvSpPr>
        <p:spPr>
          <a:xfrm>
            <a:off x="9265158" y="3154680"/>
            <a:ext cx="2237994" cy="0"/>
          </a:xfrm>
          <a:prstGeom prst="line">
            <a:avLst/>
          </a:prstGeom>
          <a:noFill/>
          <a:ln w="9525">
            <a:solidFill>
              <a:srgbClr val="6B5A9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65158" y="3227832"/>
            <a:ext cx="22379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12 </a:t>
            </a:r>
            <a:pPr indent="0" marL="0">
              <a:buNone/>
            </a:pPr>
            <a:r>
              <a:rPr lang="en-US" sz="12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個人還在追・經營中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9265158" y="3867912"/>
            <a:ext cx="2237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你填「當下」後自動算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462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下面三個百分比，就是三道關卡的「通過率」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57200" y="4873752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3114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48737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88.9%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719072" y="485546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報到 → 面談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719072" y="50932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來報到的人，有多少真的談到？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566160" y="4873752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63A2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566160" y="48737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A2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18.8%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4828032" y="485546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 → 試聽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4828032" y="50932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談過的人，有多少願意來試聽？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675120" y="4873752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8F4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675120" y="48737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F45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33.3%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7936992" y="485546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試聽 → 註冊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7936992" y="50932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試聽完的人，有多少決定註冊？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4498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F45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● 綠框</a:t>
            </a:r>
            <a:pPr indent="0" marL="0">
              <a:buNone/>
            </a:pPr>
            <a:r>
              <a:rPr lang="en-US" sz="10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＝這關七家裡你最強　</a:t>
            </a:r>
            <a:pPr indent="0" marL="0">
              <a:buNone/>
            </a:pPr>
            <a:r>
              <a:rPr lang="en-US" sz="1050" b="1" dirty="0">
                <a:solidFill>
                  <a:srgbClr val="D63A2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● 紅框</a:t>
            </a:r>
            <a:pPr indent="0" marL="0">
              <a:buNone/>
            </a:pPr>
            <a:r>
              <a:rPr lang="en-US" sz="105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＝這關七家裡你最後，先補這裡</a:t>
            </a:r>
            <a:endParaRPr lang="en-US" sz="1050" dirty="0"/>
          </a:p>
        </p:txBody>
      </p:sp>
      <p:pic>
        <p:nvPicPr>
          <p:cNvPr id="45" name="Image 1" descr="appa-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4416552"/>
            <a:ext cx="1417320" cy="1892963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業績數據中心 → 月度漏斗總結</a:t>
            </a:r>
            <a:endParaRPr lang="en-US" sz="800" dirty="0"/>
          </a:p>
        </p:txBody>
      </p:sp>
      <p:sp>
        <p:nvSpPr>
          <p:cNvPr id="47" name="Text 43"/>
          <p:cNvSpPr txBox="1"/>
          <p:nvPr/>
        </p:nvSpPr>
        <p:spPr>
          <a:xfrm>
            <a:off x="1081735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01 / 02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pplau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566928" cy="45938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HOW TO USE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9720072" y="1371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FFFFFF">
                    <a:alpha val="25000"/>
                  </a:srgbClr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3</a:t>
            </a:r>
            <a:endParaRPr 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機器算數字，你只填「當下」。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63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每個月，主管只要做 </a:t>
            </a:r>
            <a:pPr indent="0" marL="0">
              <a:buNone/>
            </a:pPr>
            <a:r>
              <a:rPr lang="en-US" sz="30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三件事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，這張卡就自己長出來。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13816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587752"/>
            <a:ext cx="621792" cy="621792"/>
          </a:xfrm>
          <a:prstGeom prst="ellipse">
            <a:avLst/>
          </a:prstGeom>
          <a:solidFill>
            <a:srgbClr val="CAFF33"/>
          </a:solidFill>
          <a:ln w="12700">
            <a:solidFill>
              <a:srgbClr val="CAFF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2587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4597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同步資料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業績數據中心 → 激勵 → 按「同步資料」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843784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EE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的報到、面談、報名、註冊會自動跑進來。這一步你不用打任何數字。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602736"/>
            <a:ext cx="813816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3858768"/>
            <a:ext cx="621792" cy="621792"/>
          </a:xfrm>
          <a:prstGeom prst="ellipse">
            <a:avLst/>
          </a:prstGeom>
          <a:solidFill>
            <a:srgbClr val="CAFF33"/>
          </a:solidFill>
          <a:ln w="12700">
            <a:solidFill>
              <a:srgbClr val="CAFF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" y="38587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3730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填兩格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3776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月度漏斗總結 → 每家卡片最下面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114800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EE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「當下註冊」＝面談當場就簽的人；「試聽後註冊」＝試聽完才簽的人。兩格相加要等於註冊Ⓐ，數字變紅就是填錯了。沒繳 100 元也讓他試聽的，填在「額外試聽報備」。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873752"/>
            <a:ext cx="813816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5129784"/>
            <a:ext cx="621792" cy="621792"/>
          </a:xfrm>
          <a:prstGeom prst="ellipse">
            <a:avLst/>
          </a:prstGeom>
          <a:solidFill>
            <a:srgbClr val="CAFF33"/>
          </a:solidFill>
          <a:ln w="12700">
            <a:solidFill>
              <a:srgbClr val="CAFF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51297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146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5001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看一眼、貼出去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5047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畫面最上面的「復盤」＋「本月最大缺口」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5385816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EE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系統自動寫好兩字總結、每家強項、可複製做法、下階段行動。按「複製文字摘要」直接貼 LINE 群；要改字按「改字」。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915400" y="2331720"/>
            <a:ext cx="2816352" cy="1600200"/>
          </a:xfrm>
          <a:prstGeom prst="roundRect">
            <a:avLst>
              <a:gd name="adj" fmla="val 8000"/>
            </a:avLst>
          </a:prstGeom>
          <a:solidFill>
            <a:srgbClr val="231146">
              <a:alpha val="75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98280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F33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看到這些，不是壞掉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098280" y="2770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「待填當下」</a:t>
            </a:r>
            <a:pPr indent="0" marL="0">
              <a:buNone/>
            </a:pPr>
            <a:r>
              <a:rPr lang="en-US" sz="95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＝第 02 步還沒做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098280" y="3044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「缺報到排名」</a:t>
            </a:r>
            <a:pPr indent="0" marL="0">
              <a:buNone/>
            </a:pPr>
            <a:r>
              <a:rPr lang="en-US" sz="95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＝第 01 步還沒做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9098280" y="33192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數字變紅</a:t>
            </a:r>
            <a:pPr indent="0" marL="0">
              <a:buNone/>
            </a:pPr>
            <a:r>
              <a:rPr lang="en-US" sz="95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＝兩格相加 ≠ 註冊Ⓐ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9098280" y="3593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綠點是本月即時</a:t>
            </a:r>
            <a:pPr indent="0" marL="0">
              <a:buNone/>
            </a:pPr>
            <a:r>
              <a:rPr lang="en-US" sz="95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，箱子是以前的月份</a:t>
            </a:r>
            <a:endParaRPr lang="en-US" sz="950" dirty="0"/>
          </a:p>
        </p:txBody>
      </p:sp>
      <p:pic>
        <p:nvPicPr>
          <p:cNvPr id="31" name="Image 1" descr="appa-thumbs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2" y="4187613"/>
            <a:ext cx="914400" cy="2167467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E4F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每月 5 號前填完，5 號月會直接用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1081735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9E4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02 / 02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2026-09-03T03:59:19Z</dcterms:created>
  <dcterms:modified xsi:type="dcterms:W3CDTF">2026-09-03T03:59:19Z</dcterms:modified>
</cp:coreProperties>
</file>