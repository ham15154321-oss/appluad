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這份是給業務看的：不是要你們填表，是要你們看得懂數字怎麼來的，才知道哪一關要補。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重點：業務不用填任何數字。四張表都是 EIP 原本就有的，我們只是自動抄回來對在一起。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三步驟：先看 2 萬、再看名單新舊、最後看天數。六格互斥，一個人只會在一格。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這頁講因果：追回不是憑空出現，是前幾個月的面談＋試聽留下來的。經營中就是你下個月的追回。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高雄建國 109.6%：146 報到、160 面談。多的 14 位主要是舊名單回訪和班務。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五關卡：本月面談 → Ⓐ新名單 → 有註冊(非加購) → 金額≥2萬 → 3天內。缺一關就落到別格。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三個數字同一份收支表、三種切法：追回看名單新舊、科數看筆數、人頭看人。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這頁一個一個對著看。特別講 ⑧：Ⓐ±N 是對帳章，✓ 代表跟 EIP 完全一致。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收尾：業務只要把面談建檔、試聽記錄、金額入帳做好，數字就會自己說話。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pplaud-logo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57200"/>
            <a:ext cx="603504" cy="4890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298448" y="548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Frutiger Neue LT Pro" pitchFamily="34" charset="0"/>
                <a:ea typeface="Frutiger Neue LT Pro" pitchFamily="34" charset="-122"/>
                <a:cs typeface="Frutiger Neue LT Pro" pitchFamily="34" charset="-120"/>
              </a:rPr>
              <a:t>SALES TRAINING · 2026.09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73736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9E4FF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數字不是我算的，</a:t>
            </a:r>
            <a:pPr indent="0" marL="0">
              <a:buNone/>
            </a:pPr>
            <a:r>
              <a:rPr lang="en-US" sz="2600" b="1" dirty="0">
                <a:solidFill>
                  <a:srgbClr val="CAFF33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是 EIP 自己說的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331720"/>
            <a:ext cx="9144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月度漏斗總結</a:t>
            </a:r>
            <a:endParaRPr lang="en-US" sz="6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6118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9E4FF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每個數字怎麼來、怎麼被判定、跨月怎麼算 —— 一次講清楚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4251960"/>
            <a:ext cx="1463040" cy="384048"/>
          </a:xfrm>
          <a:prstGeom prst="roundRect">
            <a:avLst>
              <a:gd name="adj" fmla="val 47619"/>
            </a:avLst>
          </a:prstGeom>
          <a:solidFill>
            <a:srgbClr val="FFFFFF">
              <a:alpha val="14000"/>
            </a:srgbClr>
          </a:solidFill>
          <a:ln w="9525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42519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試聽判定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121408" y="4251960"/>
            <a:ext cx="1463040" cy="384048"/>
          </a:xfrm>
          <a:prstGeom prst="roundRect">
            <a:avLst>
              <a:gd name="adj" fmla="val 47619"/>
            </a:avLst>
          </a:prstGeom>
          <a:solidFill>
            <a:srgbClr val="FFFFFF">
              <a:alpha val="14000"/>
            </a:srgbClr>
          </a:solidFill>
          <a:ln w="9525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121408" y="42519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追回判定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694176" y="4251960"/>
            <a:ext cx="1463040" cy="384048"/>
          </a:xfrm>
          <a:prstGeom prst="roundRect">
            <a:avLst>
              <a:gd name="adj" fmla="val 47619"/>
            </a:avLst>
          </a:prstGeom>
          <a:solidFill>
            <a:srgbClr val="FFFFFF">
              <a:alpha val="14000"/>
            </a:srgbClr>
          </a:solidFill>
          <a:ln w="9525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694176" y="42519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當下註冊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266944" y="4251960"/>
            <a:ext cx="1463040" cy="384048"/>
          </a:xfrm>
          <a:prstGeom prst="roundRect">
            <a:avLst>
              <a:gd name="adj" fmla="val 47619"/>
            </a:avLst>
          </a:prstGeom>
          <a:solidFill>
            <a:srgbClr val="FFFFFF">
              <a:alpha val="14000"/>
            </a:srgbClr>
          </a:solidFill>
          <a:ln w="9525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266944" y="42519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科數・人頭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839712" y="4251960"/>
            <a:ext cx="1463040" cy="384048"/>
          </a:xfrm>
          <a:prstGeom prst="roundRect">
            <a:avLst>
              <a:gd name="adj" fmla="val 47619"/>
            </a:avLst>
          </a:prstGeom>
          <a:solidFill>
            <a:srgbClr val="FFFFFF">
              <a:alpha val="14000"/>
            </a:srgbClr>
          </a:solidFill>
          <a:ln w="9525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839712" y="42519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跨月因果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8412480" y="4251960"/>
            <a:ext cx="1463040" cy="384048"/>
          </a:xfrm>
          <a:prstGeom prst="roundRect">
            <a:avLst>
              <a:gd name="adj" fmla="val 47619"/>
            </a:avLst>
          </a:prstGeom>
          <a:solidFill>
            <a:srgbClr val="FFFFFF">
              <a:alpha val="14000"/>
            </a:srgbClr>
          </a:solidFill>
          <a:ln w="9525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412480" y="42519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卡片解剖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6035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E4FF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APPLAUD · 赫綵設計學院　｜　業績數據中心 → 月度漏斗總結</a:t>
            </a:r>
            <a:endParaRPr lang="en-US" sz="1000" dirty="0"/>
          </a:p>
        </p:txBody>
      </p:sp>
      <p:pic>
        <p:nvPicPr>
          <p:cNvPr id="20" name="Image 1" descr="appa-cros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2952" y="3886200"/>
            <a:ext cx="1828800" cy="26517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2011680" cy="274320"/>
          </a:xfrm>
          <a:prstGeom prst="roundRect">
            <a:avLst>
              <a:gd name="adj" fmla="val 50000"/>
            </a:avLst>
          </a:prstGeom>
          <a:solidFill>
            <a:srgbClr val="F1EEFF"/>
          </a:solidFill>
          <a:ln w="12700">
            <a:solidFill>
              <a:srgbClr val="F1EE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6633FF"/>
                </a:solidFill>
                <a:latin typeface="Frutiger Neue LT Pro" pitchFamily="34" charset="0"/>
                <a:ea typeface="Frutiger Neue LT Pro" pitchFamily="34" charset="-122"/>
                <a:cs typeface="Frutiger Neue LT Pro" pitchFamily="34" charset="-120"/>
              </a:rPr>
              <a:t>DATA SOURCE</a:t>
            </a:r>
            <a:endParaRPr lang="en-US" sz="850" dirty="0"/>
          </a:p>
        </p:txBody>
      </p:sp>
      <p:pic>
        <p:nvPicPr>
          <p:cNvPr id="4" name="Image 0" descr="logo-15th-n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63072" y="301752"/>
            <a:ext cx="86868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74980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31146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所有數字都來自 EIP 的四張表，沒有人工填</a:t>
            </a:r>
            <a:endParaRPr lang="en-US" sz="29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5280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主管按一次同步，系統自己去 EIP 一頁一頁抄回來，再照規則分類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645566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86B0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APPLAUD · 赫綵設計學院　｜　月度漏斗總結・業務教學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10817352" y="645566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E86B0"/>
                </a:solidFill>
                <a:latin typeface="Frutiger Neue LT Pro" pitchFamily="34" charset="0"/>
                <a:ea typeface="Frutiger Neue LT Pro" pitchFamily="34" charset="-122"/>
                <a:cs typeface="Frutiger Neue LT Pro" pitchFamily="34" charset="-120"/>
              </a:rPr>
              <a:t>02 / 09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57200" y="1828800"/>
            <a:ext cx="2697480" cy="2743200"/>
          </a:xfrm>
          <a:prstGeom prst="roundRect">
            <a:avLst>
              <a:gd name="adj" fmla="val 4746"/>
            </a:avLst>
          </a:prstGeom>
          <a:solidFill>
            <a:srgbClr val="F1EEFF"/>
          </a:solidFill>
          <a:ln w="12700">
            <a:solidFill>
              <a:srgbClr val="F1EE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8368" y="2029968"/>
            <a:ext cx="1325880" cy="256032"/>
          </a:xfrm>
          <a:prstGeom prst="roundRect">
            <a:avLst>
              <a:gd name="adj" fmla="val 50000"/>
            </a:avLst>
          </a:prstGeom>
          <a:solidFill>
            <a:srgbClr val="ED6B11"/>
          </a:solidFill>
          <a:ln w="12700">
            <a:solidFill>
              <a:srgbClr val="ED6B1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58368" y="202996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報到（每週）</a:t>
            </a:r>
            <a:endParaRPr lang="en-US" sz="850" dirty="0"/>
          </a:p>
        </p:txBody>
      </p:sp>
      <p:sp>
        <p:nvSpPr>
          <p:cNvPr id="12" name="Text 9"/>
          <p:cNvSpPr txBox="1"/>
          <p:nvPr/>
        </p:nvSpPr>
        <p:spPr>
          <a:xfrm>
            <a:off x="658368" y="2377440"/>
            <a:ext cx="2295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1146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① 報到排名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658368" y="2724912"/>
            <a:ext cx="2295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E86B0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EIP → 學員設定 → 通路名單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58368" y="3218688"/>
            <a:ext cx="2295144" cy="0"/>
          </a:xfrm>
          <a:prstGeom prst="line">
            <a:avLst/>
          </a:prstGeom>
          <a:noFill/>
          <a:ln w="12700">
            <a:solidFill>
              <a:srgbClr val="E4DE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58368" y="3291840"/>
            <a:ext cx="2295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33FF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這張表給我們：</a:t>
            </a:r>
            <a:endParaRPr lang="en-US" sz="850" dirty="0"/>
          </a:p>
        </p:txBody>
      </p:sp>
      <p:sp>
        <p:nvSpPr>
          <p:cNvPr id="16" name="Text 13"/>
          <p:cNvSpPr txBox="1"/>
          <p:nvPr/>
        </p:nvSpPr>
        <p:spPr>
          <a:xfrm>
            <a:off x="658368" y="3529584"/>
            <a:ext cx="2295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31146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總報到 146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3319272" y="1828800"/>
            <a:ext cx="2697480" cy="2743200"/>
          </a:xfrm>
          <a:prstGeom prst="roundRect">
            <a:avLst>
              <a:gd name="adj" fmla="val 4746"/>
            </a:avLst>
          </a:prstGeom>
          <a:solidFill>
            <a:srgbClr val="F1EEFF"/>
          </a:solidFill>
          <a:ln w="12700">
            <a:solidFill>
              <a:srgbClr val="F1EEF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520440" y="2029968"/>
            <a:ext cx="1325880" cy="256032"/>
          </a:xfrm>
          <a:prstGeom prst="roundRect">
            <a:avLst>
              <a:gd name="adj" fmla="val 50000"/>
            </a:avLst>
          </a:prstGeom>
          <a:solidFill>
            <a:srgbClr val="6633FF"/>
          </a:solidFill>
          <a:ln w="12700">
            <a:solidFill>
              <a:srgbClr val="6633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520440" y="202996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激勵（每天）</a:t>
            </a:r>
            <a:endParaRPr lang="en-US" sz="850" dirty="0"/>
          </a:p>
        </p:txBody>
      </p:sp>
      <p:sp>
        <p:nvSpPr>
          <p:cNvPr id="20" name="Text 17"/>
          <p:cNvSpPr txBox="1"/>
          <p:nvPr/>
        </p:nvSpPr>
        <p:spPr>
          <a:xfrm>
            <a:off x="3520440" y="2377440"/>
            <a:ext cx="2295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1146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② 當月績效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3520440" y="2724912"/>
            <a:ext cx="2295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E86B0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EIP → 營業績效報表 → 學院績效表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3520440" y="3218688"/>
            <a:ext cx="2295144" cy="0"/>
          </a:xfrm>
          <a:prstGeom prst="line">
            <a:avLst/>
          </a:prstGeom>
          <a:noFill/>
          <a:ln w="12700">
            <a:solidFill>
              <a:srgbClr val="E4DEF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3520440" y="3291840"/>
            <a:ext cx="2295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33FF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這張表給我們：</a:t>
            </a:r>
            <a:endParaRPr lang="en-US" sz="850" dirty="0"/>
          </a:p>
        </p:txBody>
      </p:sp>
      <p:sp>
        <p:nvSpPr>
          <p:cNvPr id="24" name="Text 21"/>
          <p:cNvSpPr txBox="1"/>
          <p:nvPr/>
        </p:nvSpPr>
        <p:spPr>
          <a:xfrm>
            <a:off x="3520440" y="3529584"/>
            <a:ext cx="2295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31146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實際面談 160・註冊Ⓐ 24・註冊Ⓑ 57・新業績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6181344" y="1828800"/>
            <a:ext cx="2697480" cy="2743200"/>
          </a:xfrm>
          <a:prstGeom prst="roundRect">
            <a:avLst>
              <a:gd name="adj" fmla="val 4746"/>
            </a:avLst>
          </a:prstGeom>
          <a:solidFill>
            <a:srgbClr val="F1EEFF"/>
          </a:solidFill>
          <a:ln w="12700">
            <a:solidFill>
              <a:srgbClr val="F1EEFF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382512" y="2029968"/>
            <a:ext cx="1325880" cy="256032"/>
          </a:xfrm>
          <a:prstGeom prst="roundRect">
            <a:avLst>
              <a:gd name="adj" fmla="val 50000"/>
            </a:avLst>
          </a:prstGeom>
          <a:solidFill>
            <a:srgbClr val="25CDC1"/>
          </a:solidFill>
          <a:ln w="12700">
            <a:solidFill>
              <a:srgbClr val="25CDC1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382512" y="202996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漏斗（每週）</a:t>
            </a:r>
            <a:endParaRPr lang="en-US" sz="850" dirty="0"/>
          </a:p>
        </p:txBody>
      </p:sp>
      <p:sp>
        <p:nvSpPr>
          <p:cNvPr id="28" name="Text 25"/>
          <p:cNvSpPr txBox="1"/>
          <p:nvPr/>
        </p:nvSpPr>
        <p:spPr>
          <a:xfrm>
            <a:off x="6382512" y="2377440"/>
            <a:ext cx="2295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1146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③ 面談紀錄總表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6382512" y="2724912"/>
            <a:ext cx="2295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E86B0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學員設定 → 面談紀錄建立 → 總表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6382512" y="3218688"/>
            <a:ext cx="2295144" cy="0"/>
          </a:xfrm>
          <a:prstGeom prst="line">
            <a:avLst/>
          </a:prstGeom>
          <a:noFill/>
          <a:ln w="12700">
            <a:solidFill>
              <a:srgbClr val="E4DEF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382512" y="3291840"/>
            <a:ext cx="2295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33FF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這張表給我們：</a:t>
            </a:r>
            <a:endParaRPr lang="en-US" sz="850" dirty="0"/>
          </a:p>
        </p:txBody>
      </p:sp>
      <p:sp>
        <p:nvSpPr>
          <p:cNvPr id="32" name="Text 29"/>
          <p:cNvSpPr txBox="1"/>
          <p:nvPr/>
        </p:nvSpPr>
        <p:spPr>
          <a:xfrm>
            <a:off x="6382512" y="3529584"/>
            <a:ext cx="2295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31146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每個人的面談日、通路建檔日、承辦人、報名/註冊狀態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9043416" y="1828800"/>
            <a:ext cx="2697480" cy="2743200"/>
          </a:xfrm>
          <a:prstGeom prst="roundRect">
            <a:avLst>
              <a:gd name="adj" fmla="val 4746"/>
            </a:avLst>
          </a:prstGeom>
          <a:solidFill>
            <a:srgbClr val="F1EEFF"/>
          </a:solidFill>
          <a:ln w="12700">
            <a:solidFill>
              <a:srgbClr val="F1EEFF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9244584" y="2029968"/>
            <a:ext cx="1325880" cy="256032"/>
          </a:xfrm>
          <a:prstGeom prst="roundRect">
            <a:avLst>
              <a:gd name="adj" fmla="val 50000"/>
            </a:avLst>
          </a:prstGeom>
          <a:solidFill>
            <a:srgbClr val="25CDC1"/>
          </a:solidFill>
          <a:ln w="12700">
            <a:solidFill>
              <a:srgbClr val="25CDC1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9244584" y="202996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漏斗（每週）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9244584" y="2377440"/>
            <a:ext cx="2295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1146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④ 營業收支查詢</a:t>
            </a:r>
            <a:endParaRPr lang="en-US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9244584" y="2724912"/>
            <a:ext cx="2295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E86B0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報表 → 營業績效報表 → 營業收支查詢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9244584" y="3218688"/>
            <a:ext cx="2295144" cy="0"/>
          </a:xfrm>
          <a:prstGeom prst="line">
            <a:avLst/>
          </a:prstGeom>
          <a:noFill/>
          <a:ln w="12700">
            <a:solidFill>
              <a:srgbClr val="E4DEFF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9244584" y="3291840"/>
            <a:ext cx="2295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33FF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這張表給我們：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9244584" y="3529584"/>
            <a:ext cx="2295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31146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每一筆 報名／註冊、業績合計、收支日期、通路副類別</a:t>
            </a:r>
            <a:endParaRPr lang="en-US" sz="1050" dirty="0"/>
          </a:p>
        </p:txBody>
      </p:sp>
      <p:sp>
        <p:nvSpPr>
          <p:cNvPr id="41" name="Shape 38"/>
          <p:cNvSpPr/>
          <p:nvPr/>
        </p:nvSpPr>
        <p:spPr>
          <a:xfrm>
            <a:off x="457200" y="4800600"/>
            <a:ext cx="11274552" cy="1417320"/>
          </a:xfrm>
          <a:prstGeom prst="roundRect">
            <a:avLst>
              <a:gd name="adj" fmla="val 9032"/>
            </a:avLst>
          </a:prstGeom>
          <a:solidFill>
            <a:srgbClr val="231146"/>
          </a:solidFill>
          <a:ln w="12700">
            <a:solidFill>
              <a:srgbClr val="231146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731520" y="4983480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FF33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③④ 是這次新增的「逐人明細」——有了它，當下／試聽後／追回／經營中才有名字，不是只有一個數字</a:t>
            </a:r>
            <a:endParaRPr lang="en-US" sz="1400" dirty="0"/>
          </a:p>
        </p:txBody>
      </p:sp>
      <p:sp>
        <p:nvSpPr>
          <p:cNvPr id="43" name="Text 40"/>
          <p:cNvSpPr txBox="1"/>
          <p:nvPr/>
        </p:nvSpPr>
        <p:spPr>
          <a:xfrm>
            <a:off x="731520" y="534924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抓法：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9E4FF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跟人工翻頁一模一樣，一次一頁、每頁間隔 2 秒、七家跑完約 7～9 分鐘，刻意放慢不影響公司 EIP。　</a:t>
            </a:r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誰要按：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9E4FF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只有負責同步的主管要裝擴充；其他人開 GitHub 網頁就看得到同一份資料。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2011680" cy="274320"/>
          </a:xfrm>
          <a:prstGeom prst="roundRect">
            <a:avLst>
              <a:gd name="adj" fmla="val 50000"/>
            </a:avLst>
          </a:prstGeom>
          <a:solidFill>
            <a:srgbClr val="F1EEFF"/>
          </a:solidFill>
          <a:ln w="12700">
            <a:solidFill>
              <a:srgbClr val="F1EE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6633FF"/>
                </a:solidFill>
                <a:latin typeface="Frutiger Neue LT Pro" pitchFamily="34" charset="0"/>
                <a:ea typeface="Frutiger Neue LT Pro" pitchFamily="34" charset="-122"/>
                <a:cs typeface="Frutiger Neue LT Pro" pitchFamily="34" charset="-120"/>
              </a:rPr>
              <a:t>RULES</a:t>
            </a:r>
            <a:endParaRPr lang="en-US" sz="850" dirty="0"/>
          </a:p>
        </p:txBody>
      </p:sp>
      <p:pic>
        <p:nvPicPr>
          <p:cNvPr id="4" name="Image 0" descr="logo-15th-n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63072" y="301752"/>
            <a:ext cx="86868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74980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31146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一個學生會被分成哪一種？先看名單、再看天數</a:t>
            </a:r>
            <a:endParaRPr lang="en-US" sz="29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5280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判定順序：❶ 有沒有付到 2 萬 → ❷ 名單什麼時候進來的（Ⓐ／Ⓑ）→ ❸ 註冊離面談幾天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645566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86B0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APPLAUD · 赫綵設計學院　｜　月度漏斗總結・業務教學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10817352" y="645566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E86B0"/>
                </a:solidFill>
                <a:latin typeface="Frutiger Neue LT Pro" pitchFamily="34" charset="0"/>
                <a:ea typeface="Frutiger Neue LT Pro" pitchFamily="34" charset="-122"/>
                <a:cs typeface="Frutiger Neue LT Pro" pitchFamily="34" charset="-120"/>
              </a:rPr>
              <a:t>03 / 09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57200" y="1783080"/>
            <a:ext cx="3246120" cy="2011680"/>
          </a:xfrm>
          <a:prstGeom prst="roundRect">
            <a:avLst>
              <a:gd name="adj" fmla="val 6364"/>
            </a:avLst>
          </a:prstGeom>
          <a:solidFill>
            <a:srgbClr val="231146"/>
          </a:solidFill>
          <a:ln w="12700">
            <a:solidFill>
              <a:srgbClr val="23114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85800" y="193852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FF33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❶ 2 萬門檻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228600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E4FF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本月註冊金額（業績合計）加總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685800" y="256032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≥ 2 萬</a:t>
            </a:r>
            <a:pPr indent="0" marL="0">
              <a:buNone/>
            </a:pPr>
            <a:r>
              <a:rPr lang="en-US" sz="1100" dirty="0">
                <a:solidFill>
                  <a:srgbClr val="E9E4FF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　才算註冊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685800" y="2962656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9E4FF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未達 2 萬（例如只繳 100 元報名費、或只繳部分款）→ 不計註冊，改列「經營中」並標註已繳金額，人不會不見。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886200" y="1783080"/>
            <a:ext cx="3246120" cy="2011680"/>
          </a:xfrm>
          <a:prstGeom prst="roundRect">
            <a:avLst>
              <a:gd name="adj" fmla="val 6364"/>
            </a:avLst>
          </a:prstGeom>
          <a:solidFill>
            <a:srgbClr val="F1EEFF"/>
          </a:solidFill>
          <a:ln w="12700">
            <a:solidFill>
              <a:srgbClr val="F1EE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114800" y="193852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633FF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❷ 名單新舊（Ⓐ／Ⓑ）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4114800" y="2286000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B5280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看面談表的「通路建檔日期」＝名單什麼時候進公司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4114800" y="272491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1F8F45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Ⓐ 新名單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31146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＝本月建檔（或展場空白）→ 走「當下／試聽後」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4114800" y="312724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B7791F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Ⓑ 舊名單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31146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＝上個月以前建檔 → 一律算「追回」，就算本月才面談也一樣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7315200" y="1783080"/>
            <a:ext cx="4416552" cy="2011680"/>
          </a:xfrm>
          <a:prstGeom prst="roundRect">
            <a:avLst>
              <a:gd name="adj" fmla="val 6364"/>
            </a:avLst>
          </a:prstGeom>
          <a:solidFill>
            <a:srgbClr val="F1EEFF"/>
          </a:solidFill>
          <a:ln w="12700">
            <a:solidFill>
              <a:srgbClr val="F1EEF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543800" y="193852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633FF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❸ 註冊日 − 面談日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7543800" y="228600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5280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只對 Ⓐ 新名單判斷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7543800" y="2560320"/>
            <a:ext cx="822960" cy="384048"/>
          </a:xfrm>
          <a:prstGeom prst="roundRect">
            <a:avLst>
              <a:gd name="adj" fmla="val 23810"/>
            </a:avLst>
          </a:prstGeom>
          <a:solidFill>
            <a:srgbClr val="1F8F45"/>
          </a:solidFill>
          <a:ln w="12700">
            <a:solidFill>
              <a:srgbClr val="1F8F45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543800" y="256032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≤ 3 天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8503920" y="254203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31146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當下註冊</a:t>
            </a:r>
            <a:endParaRPr lang="en-US" sz="1150" dirty="0"/>
          </a:p>
        </p:txBody>
      </p:sp>
      <p:sp>
        <p:nvSpPr>
          <p:cNvPr id="25" name="Text 22"/>
          <p:cNvSpPr txBox="1"/>
          <p:nvPr/>
        </p:nvSpPr>
        <p:spPr>
          <a:xfrm>
            <a:off x="8503920" y="27432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B5280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當天談完當場簽、或隔一兩天回來繳，都算當場成交力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7543800" y="3127248"/>
            <a:ext cx="822960" cy="384048"/>
          </a:xfrm>
          <a:prstGeom prst="roundRect">
            <a:avLst>
              <a:gd name="adj" fmla="val 23810"/>
            </a:avLst>
          </a:prstGeom>
          <a:solidFill>
            <a:srgbClr val="6633FF"/>
          </a:solidFill>
          <a:ln w="12700">
            <a:solidFill>
              <a:srgbClr val="6633F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543800" y="312724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&gt; 3 天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8503920" y="310896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31146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試聽後註冊</a:t>
            </a:r>
            <a:endParaRPr lang="en-US" sz="1150" dirty="0"/>
          </a:p>
        </p:txBody>
      </p:sp>
      <p:sp>
        <p:nvSpPr>
          <p:cNvPr id="29" name="Text 26"/>
          <p:cNvSpPr txBox="1"/>
          <p:nvPr/>
        </p:nvSpPr>
        <p:spPr>
          <a:xfrm>
            <a:off x="8503920" y="331012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B5280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中間去試聽／回去考慮，追回來才簽（不管有沒有繳 100 元報名費）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457200" y="3977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1146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照上面三步驟，每個人只會落在下面六格其中一格：</a:t>
            </a:r>
            <a:endParaRPr lang="en-US" sz="1250" dirty="0"/>
          </a:p>
        </p:txBody>
      </p:sp>
      <p:sp>
        <p:nvSpPr>
          <p:cNvPr id="31" name="Shape 28"/>
          <p:cNvSpPr/>
          <p:nvPr/>
        </p:nvSpPr>
        <p:spPr>
          <a:xfrm>
            <a:off x="457200" y="4315968"/>
            <a:ext cx="1757172" cy="1481328"/>
          </a:xfrm>
          <a:prstGeom prst="roundRect">
            <a:avLst>
              <a:gd name="adj" fmla="val 86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57200" y="4315968"/>
            <a:ext cx="1757172" cy="73152"/>
          </a:xfrm>
          <a:prstGeom prst="rect">
            <a:avLst/>
          </a:prstGeom>
          <a:solidFill>
            <a:srgbClr val="1F8F45"/>
          </a:solidFill>
          <a:ln w="12700">
            <a:solidFill>
              <a:srgbClr val="1F8F45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85216" y="4498848"/>
            <a:ext cx="15011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1146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當下註冊</a:t>
            </a:r>
            <a:endParaRPr lang="en-US" sz="1300" dirty="0"/>
          </a:p>
        </p:txBody>
      </p:sp>
      <p:sp>
        <p:nvSpPr>
          <p:cNvPr id="34" name="Text 31"/>
          <p:cNvSpPr txBox="1"/>
          <p:nvPr/>
        </p:nvSpPr>
        <p:spPr>
          <a:xfrm>
            <a:off x="585216" y="4809744"/>
            <a:ext cx="15011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B5280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Ⓐ・≥2萬・≤3天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2360676" y="4315968"/>
            <a:ext cx="1757172" cy="1481328"/>
          </a:xfrm>
          <a:prstGeom prst="roundRect">
            <a:avLst>
              <a:gd name="adj" fmla="val 86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2360676" y="4315968"/>
            <a:ext cx="1757172" cy="73152"/>
          </a:xfrm>
          <a:prstGeom prst="rect">
            <a:avLst/>
          </a:prstGeom>
          <a:solidFill>
            <a:srgbClr val="6633FF"/>
          </a:solidFill>
          <a:ln w="12700">
            <a:solidFill>
              <a:srgbClr val="6633FF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2488692" y="4498848"/>
            <a:ext cx="15011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1146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試聽後註冊</a:t>
            </a:r>
            <a:endParaRPr lang="en-US" sz="1300" dirty="0"/>
          </a:p>
        </p:txBody>
      </p:sp>
      <p:sp>
        <p:nvSpPr>
          <p:cNvPr id="38" name="Text 35"/>
          <p:cNvSpPr txBox="1"/>
          <p:nvPr/>
        </p:nvSpPr>
        <p:spPr>
          <a:xfrm>
            <a:off x="2488692" y="4809744"/>
            <a:ext cx="15011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B5280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Ⓐ・≥2萬・&gt;3天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4264152" y="4315968"/>
            <a:ext cx="1757172" cy="1481328"/>
          </a:xfrm>
          <a:prstGeom prst="roundRect">
            <a:avLst>
              <a:gd name="adj" fmla="val 86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4264152" y="4315968"/>
            <a:ext cx="1757172" cy="73152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4392168" y="4498848"/>
            <a:ext cx="15011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1146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追回</a:t>
            </a:r>
            <a:endParaRPr lang="en-US" sz="1300" dirty="0"/>
          </a:p>
        </p:txBody>
      </p:sp>
      <p:sp>
        <p:nvSpPr>
          <p:cNvPr id="42" name="Text 39"/>
          <p:cNvSpPr txBox="1"/>
          <p:nvPr/>
        </p:nvSpPr>
        <p:spPr>
          <a:xfrm>
            <a:off x="4392168" y="4809744"/>
            <a:ext cx="15011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B5280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Ⓑ 舊名單本月簽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B5280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或 3 個月內沒面談紀錄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6167628" y="4315968"/>
            <a:ext cx="1757172" cy="1481328"/>
          </a:xfrm>
          <a:prstGeom prst="roundRect">
            <a:avLst>
              <a:gd name="adj" fmla="val 86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6167628" y="4315968"/>
            <a:ext cx="1757172" cy="73152"/>
          </a:xfrm>
          <a:prstGeom prst="rect">
            <a:avLst/>
          </a:prstGeom>
          <a:solidFill>
            <a:srgbClr val="ED6B11"/>
          </a:solidFill>
          <a:ln w="12700">
            <a:solidFill>
              <a:srgbClr val="ED6B11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6295644" y="4498848"/>
            <a:ext cx="15011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1146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經營中</a:t>
            </a:r>
            <a:endParaRPr lang="en-US" sz="1300" dirty="0"/>
          </a:p>
        </p:txBody>
      </p:sp>
      <p:sp>
        <p:nvSpPr>
          <p:cNvPr id="46" name="Text 43"/>
          <p:cNvSpPr txBox="1"/>
          <p:nvPr/>
        </p:nvSpPr>
        <p:spPr>
          <a:xfrm>
            <a:off x="6295644" y="4809744"/>
            <a:ext cx="15011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B5280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本月面談・有試聽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B5280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還沒簽（或未達 2 萬）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8071104" y="4315968"/>
            <a:ext cx="1757172" cy="1481328"/>
          </a:xfrm>
          <a:prstGeom prst="roundRect">
            <a:avLst>
              <a:gd name="adj" fmla="val 86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8071104" y="4315968"/>
            <a:ext cx="1757172" cy="73152"/>
          </a:xfrm>
          <a:prstGeom prst="rect">
            <a:avLst/>
          </a:prstGeom>
          <a:solidFill>
            <a:srgbClr val="8E86B0"/>
          </a:solidFill>
          <a:ln w="12700">
            <a:solidFill>
              <a:srgbClr val="8E86B0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199120" y="4498848"/>
            <a:ext cx="15011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1146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經營池</a:t>
            </a:r>
            <a:endParaRPr lang="en-US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8199120" y="4809744"/>
            <a:ext cx="15011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B5280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前 3 個月面談・有試聽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B5280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到現在還沒簽</a:t>
            </a:r>
            <a:endParaRPr lang="en-US" sz="900" dirty="0"/>
          </a:p>
        </p:txBody>
      </p:sp>
      <p:sp>
        <p:nvSpPr>
          <p:cNvPr id="51" name="Shape 48"/>
          <p:cNvSpPr/>
          <p:nvPr/>
        </p:nvSpPr>
        <p:spPr>
          <a:xfrm>
            <a:off x="9974580" y="4315968"/>
            <a:ext cx="1757172" cy="1481328"/>
          </a:xfrm>
          <a:prstGeom prst="roundRect">
            <a:avLst>
              <a:gd name="adj" fmla="val 86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9974580" y="4315968"/>
            <a:ext cx="1757172" cy="73152"/>
          </a:xfrm>
          <a:prstGeom prst="rect">
            <a:avLst/>
          </a:prstGeom>
          <a:solidFill>
            <a:srgbClr val="D63A2F"/>
          </a:solidFill>
          <a:ln w="12700">
            <a:solidFill>
              <a:srgbClr val="D63A2F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10102596" y="4498848"/>
            <a:ext cx="15011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1146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面談後流失</a:t>
            </a:r>
            <a:endParaRPr lang="en-US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10102596" y="4809744"/>
            <a:ext cx="15011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B5280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本月面談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B5280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沒報名也沒註冊</a:t>
            </a:r>
            <a:endParaRPr lang="en-US" sz="900" dirty="0"/>
          </a:p>
        </p:txBody>
      </p:sp>
      <p:sp>
        <p:nvSpPr>
          <p:cNvPr id="55" name="Shape 52"/>
          <p:cNvSpPr/>
          <p:nvPr/>
        </p:nvSpPr>
        <p:spPr>
          <a:xfrm>
            <a:off x="457200" y="5897880"/>
            <a:ext cx="11274552" cy="457200"/>
          </a:xfrm>
          <a:prstGeom prst="roundRect">
            <a:avLst>
              <a:gd name="adj" fmla="val 28000"/>
            </a:avLst>
          </a:prstGeom>
          <a:solidFill>
            <a:srgbClr val="F1EEFF"/>
          </a:solidFill>
          <a:ln w="12700">
            <a:solidFill>
              <a:srgbClr val="F1EEFF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685800" y="58978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33FF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記名制報備試聽：</a:t>
            </a:r>
            <a:pPr indent="0" marL="0">
              <a:buNone/>
            </a:pPr>
            <a:r>
              <a:rPr lang="en-US" sz="1000" dirty="0">
                <a:solidFill>
                  <a:srgbClr val="231146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沒繳 100 元但你有安排他試聽 → 在卡片按「報備試聽名單」寫名字。系統會比對：已註冊 ✅ 不重複計、已在自動名單 🔁 不重複計，其餘才 +1 進「安排試聽」。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2011680" cy="274320"/>
          </a:xfrm>
          <a:prstGeom prst="roundRect">
            <a:avLst>
              <a:gd name="adj" fmla="val 50000"/>
            </a:avLst>
          </a:prstGeom>
          <a:solidFill>
            <a:srgbClr val="F1EEFF"/>
          </a:solidFill>
          <a:ln w="12700">
            <a:solidFill>
              <a:srgbClr val="F1EE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6633FF"/>
                </a:solidFill>
                <a:latin typeface="Frutiger Neue LT Pro" pitchFamily="34" charset="0"/>
                <a:ea typeface="Frutiger Neue LT Pro" pitchFamily="34" charset="-122"/>
                <a:cs typeface="Frutiger Neue LT Pro" pitchFamily="34" charset="-120"/>
              </a:rPr>
              <a:t>CROSS-MONTH</a:t>
            </a:r>
            <a:endParaRPr lang="en-US" sz="850" dirty="0"/>
          </a:p>
        </p:txBody>
      </p:sp>
      <p:pic>
        <p:nvPicPr>
          <p:cNvPr id="4" name="Image 0" descr="logo-15th-n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63072" y="301752"/>
            <a:ext cx="86868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74980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31146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跨月的因果：這個月的業績，有一半是上個月種的</a:t>
            </a:r>
            <a:endParaRPr lang="en-US" sz="29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5280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系統會往回抓 3 個月的面談紀錄，才知道這筆是「新談的」還是「以前談的收回來」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645566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86B0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APPLAUD · 赫綵設計學院　｜　月度漏斗總結・業務教學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10817352" y="645566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E86B0"/>
                </a:solidFill>
                <a:latin typeface="Frutiger Neue LT Pro" pitchFamily="34" charset="0"/>
                <a:ea typeface="Frutiger Neue LT Pro" pitchFamily="34" charset="-122"/>
                <a:cs typeface="Frutiger Neue LT Pro" pitchFamily="34" charset="-120"/>
              </a:rPr>
              <a:t>04 / 09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914400" y="2331720"/>
            <a:ext cx="10332720" cy="0"/>
          </a:xfrm>
          <a:prstGeom prst="line">
            <a:avLst/>
          </a:prstGeom>
          <a:noFill/>
          <a:ln w="19050">
            <a:solidFill>
              <a:srgbClr val="8E86B0"/>
            </a:solidFill>
            <a:prstDash val="dash"/>
          </a:ln>
        </p:spPr>
      </p:sp>
      <p:sp>
        <p:nvSpPr>
          <p:cNvPr id="10" name="Shape 7"/>
          <p:cNvSpPr/>
          <p:nvPr/>
        </p:nvSpPr>
        <p:spPr>
          <a:xfrm>
            <a:off x="777240" y="2194560"/>
            <a:ext cx="274320" cy="274320"/>
          </a:xfrm>
          <a:prstGeom prst="ellipse">
            <a:avLst/>
          </a:prstGeom>
          <a:solidFill>
            <a:srgbClr val="8E86B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65760" y="16733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E86B0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6月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91440" y="253288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B5280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名單建檔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B5280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面談・試聽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520440" y="2194560"/>
            <a:ext cx="274320" cy="274320"/>
          </a:xfrm>
          <a:prstGeom prst="ellipse">
            <a:avLst/>
          </a:prstGeom>
          <a:solidFill>
            <a:srgbClr val="8E86B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108960" y="16733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E86B0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7月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2834640" y="253288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B5280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名單建檔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B5280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面談・試聽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263640" y="2194560"/>
            <a:ext cx="274320" cy="274320"/>
          </a:xfrm>
          <a:prstGeom prst="ellipse">
            <a:avLst/>
          </a:prstGeom>
          <a:solidFill>
            <a:srgbClr val="6633F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852160" y="16733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633FF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8月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5577840" y="253288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B5280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本月：面談・試聽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B5280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註冊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9281160" y="2194560"/>
            <a:ext cx="274320" cy="274320"/>
          </a:xfrm>
          <a:prstGeom prst="ellipse">
            <a:avLst/>
          </a:prstGeom>
          <a:solidFill>
            <a:srgbClr val="25CDC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869680" y="16733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CDC1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9月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8595360" y="253288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B5280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下個月要收割的池子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457200" y="3291840"/>
            <a:ext cx="11274552" cy="896112"/>
          </a:xfrm>
          <a:prstGeom prst="roundRect">
            <a:avLst>
              <a:gd name="adj" fmla="val 14286"/>
            </a:avLst>
          </a:prstGeom>
          <a:solidFill>
            <a:srgbClr val="F1EEFF"/>
          </a:solidFill>
          <a:ln w="12700">
            <a:solidFill>
              <a:srgbClr val="F1EEF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58368" y="3511296"/>
            <a:ext cx="841248" cy="457200"/>
          </a:xfrm>
          <a:prstGeom prst="roundRect">
            <a:avLst>
              <a:gd name="adj" fmla="val 24000"/>
            </a:avLst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3511296"/>
            <a:ext cx="841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追回</a:t>
            </a:r>
            <a:endParaRPr lang="en-US" sz="1250" dirty="0"/>
          </a:p>
        </p:txBody>
      </p:sp>
      <p:sp>
        <p:nvSpPr>
          <p:cNvPr id="25" name="Text 22"/>
          <p:cNvSpPr txBox="1"/>
          <p:nvPr/>
        </p:nvSpPr>
        <p:spPr>
          <a:xfrm>
            <a:off x="1691640" y="343814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1146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6～7 月進來的名單</a:t>
            </a:r>
            <a:pPr indent="0" marL="0">
              <a:buNone/>
            </a:pPr>
            <a:r>
              <a:rPr lang="en-US" sz="1200" dirty="0">
                <a:solidFill>
                  <a:srgbClr val="8E86B0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  →  </a:t>
            </a:r>
            <a:pPr indent="0" marL="0">
              <a:buNone/>
            </a:pPr>
            <a:r>
              <a:rPr lang="en-US" sz="1200" b="1" dirty="0">
                <a:solidFill>
                  <a:srgbClr val="B7791F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8 月才簽約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1691640" y="37490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86B0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例：林小姐 7/15 名單進來、8/31 註冊 → 追回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5943600" y="3474720"/>
            <a:ext cx="5577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31146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名單建檔在 8 月以前 → 不算當月新談，算「追回」。這是前幾個月經營的收成。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457200" y="4315968"/>
            <a:ext cx="11274552" cy="896112"/>
          </a:xfrm>
          <a:prstGeom prst="roundRect">
            <a:avLst>
              <a:gd name="adj" fmla="val 14286"/>
            </a:avLst>
          </a:prstGeom>
          <a:solidFill>
            <a:srgbClr val="F1EEFF"/>
          </a:solidFill>
          <a:ln w="12700">
            <a:solidFill>
              <a:srgbClr val="F1EEFF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58368" y="4535424"/>
            <a:ext cx="841248" cy="457200"/>
          </a:xfrm>
          <a:prstGeom prst="roundRect">
            <a:avLst>
              <a:gd name="adj" fmla="val 24000"/>
            </a:avLst>
          </a:prstGeom>
          <a:solidFill>
            <a:srgbClr val="1F8F45"/>
          </a:solidFill>
          <a:ln w="12700">
            <a:solidFill>
              <a:srgbClr val="1F8F45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58368" y="4535424"/>
            <a:ext cx="841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當月</a:t>
            </a:r>
            <a:endParaRPr lang="en-US" sz="1250" dirty="0"/>
          </a:p>
        </p:txBody>
      </p:sp>
      <p:sp>
        <p:nvSpPr>
          <p:cNvPr id="31" name="Text 28"/>
          <p:cNvSpPr txBox="1"/>
          <p:nvPr/>
        </p:nvSpPr>
        <p:spPr>
          <a:xfrm>
            <a:off x="1691640" y="446227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1146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8 月新進名單</a:t>
            </a:r>
            <a:pPr indent="0" marL="0">
              <a:buNone/>
            </a:pPr>
            <a:r>
              <a:rPr lang="en-US" sz="1200" dirty="0">
                <a:solidFill>
                  <a:srgbClr val="8E86B0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  →  </a:t>
            </a:r>
            <a:pPr indent="0" marL="0">
              <a:buNone/>
            </a:pPr>
            <a:r>
              <a:rPr lang="en-US" sz="1200" b="1" dirty="0">
                <a:solidFill>
                  <a:srgbClr val="1F8F45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8 月面談 → 8 月簽約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1691640" y="477316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86B0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例：邱先生 8/20 名單、8/27 面談、8/27 註冊 → 當下</a:t>
            </a:r>
            <a:endParaRPr lang="en-US" sz="900" dirty="0"/>
          </a:p>
        </p:txBody>
      </p:sp>
      <p:sp>
        <p:nvSpPr>
          <p:cNvPr id="33" name="Text 30"/>
          <p:cNvSpPr txBox="1"/>
          <p:nvPr/>
        </p:nvSpPr>
        <p:spPr>
          <a:xfrm>
            <a:off x="5943600" y="4498848"/>
            <a:ext cx="5577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31146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名單、面談、註冊都在同一個月 → 才是「當下／試聽後」，代表本月新戰力。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457200" y="5340096"/>
            <a:ext cx="11274552" cy="896112"/>
          </a:xfrm>
          <a:prstGeom prst="roundRect">
            <a:avLst>
              <a:gd name="adj" fmla="val 14286"/>
            </a:avLst>
          </a:prstGeom>
          <a:solidFill>
            <a:srgbClr val="F1EEFF"/>
          </a:solidFill>
          <a:ln w="12700">
            <a:solidFill>
              <a:srgbClr val="F1EEFF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658368" y="5559552"/>
            <a:ext cx="841248" cy="457200"/>
          </a:xfrm>
          <a:prstGeom prst="roundRect">
            <a:avLst>
              <a:gd name="adj" fmla="val 24000"/>
            </a:avLst>
          </a:prstGeom>
          <a:solidFill>
            <a:srgbClr val="25CDC1"/>
          </a:solidFill>
          <a:ln w="12700">
            <a:solidFill>
              <a:srgbClr val="25CDC1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658368" y="5559552"/>
            <a:ext cx="841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池子</a:t>
            </a:r>
            <a:endParaRPr lang="en-US" sz="1250" dirty="0"/>
          </a:p>
        </p:txBody>
      </p:sp>
      <p:sp>
        <p:nvSpPr>
          <p:cNvPr id="37" name="Text 34"/>
          <p:cNvSpPr txBox="1"/>
          <p:nvPr/>
        </p:nvSpPr>
        <p:spPr>
          <a:xfrm>
            <a:off x="1691640" y="54864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1146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8 月面談＋試聽</a:t>
            </a:r>
            <a:pPr indent="0" marL="0">
              <a:buNone/>
            </a:pPr>
            <a:r>
              <a:rPr lang="en-US" sz="1200" dirty="0">
                <a:solidFill>
                  <a:srgbClr val="8E86B0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  →  </a:t>
            </a:r>
            <a:pPr indent="0" marL="0">
              <a:buNone/>
            </a:pPr>
            <a:r>
              <a:rPr lang="en-US" sz="1200" b="1" dirty="0">
                <a:solidFill>
                  <a:srgbClr val="25CDC1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9 月才可能簽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1691640" y="579729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86B0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8 月留 22 位經營中 → 9 月的收割目標</a:t>
            </a:r>
            <a:endParaRPr lang="en-US" sz="900" dirty="0"/>
          </a:p>
        </p:txBody>
      </p:sp>
      <p:sp>
        <p:nvSpPr>
          <p:cNvPr id="39" name="Text 36"/>
          <p:cNvSpPr txBox="1"/>
          <p:nvPr/>
        </p:nvSpPr>
        <p:spPr>
          <a:xfrm>
            <a:off x="5943600" y="5522976"/>
            <a:ext cx="5577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31146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本月試聽了但還沒簽 → 進「經營中」；下個月它就變成 9 月的「經營池」，簽了就是 9 月的追回。</a:t>
            </a:r>
            <a:endParaRPr lang="en-US" sz="1050" dirty="0"/>
          </a:p>
        </p:txBody>
      </p:sp>
      <p:sp>
        <p:nvSpPr>
          <p:cNvPr id="40" name="Text 37"/>
          <p:cNvSpPr txBox="1"/>
          <p:nvPr/>
        </p:nvSpPr>
        <p:spPr>
          <a:xfrm>
            <a:off x="457200" y="635508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633FF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所以「這個月做多少」和「這個月談多少」不是同一件事：追回是過去的收成，經營中是未來的存款。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2011680" cy="274320"/>
          </a:xfrm>
          <a:prstGeom prst="roundRect">
            <a:avLst>
              <a:gd name="adj" fmla="val 50000"/>
            </a:avLst>
          </a:prstGeom>
          <a:solidFill>
            <a:srgbClr val="F1EEFF"/>
          </a:solidFill>
          <a:ln w="12700">
            <a:solidFill>
              <a:srgbClr val="F1EE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6633FF"/>
                </a:solidFill>
                <a:latin typeface="Frutiger Neue LT Pro" pitchFamily="34" charset="0"/>
                <a:ea typeface="Frutiger Neue LT Pro" pitchFamily="34" charset="-122"/>
                <a:cs typeface="Frutiger Neue LT Pro" pitchFamily="34" charset="-120"/>
              </a:rPr>
              <a:t>WHY</a:t>
            </a:r>
            <a:endParaRPr lang="en-US" sz="850" dirty="0"/>
          </a:p>
        </p:txBody>
      </p:sp>
      <p:pic>
        <p:nvPicPr>
          <p:cNvPr id="4" name="Image 0" descr="logo-15th-n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63072" y="301752"/>
            <a:ext cx="86868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74980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31146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為什麼面談 160 比報到 146 還多？</a:t>
            </a:r>
            <a:endParaRPr lang="en-US" sz="29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5280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因為兩個數字算的不是同一群人 —— 分母是「本月來報到的」，分子是「本月談過的所有人」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645566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86B0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APPLAUD · 赫綵設計學院　｜　月度漏斗總結・業務教學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10817352" y="645566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E86B0"/>
                </a:solidFill>
                <a:latin typeface="Frutiger Neue LT Pro" pitchFamily="34" charset="0"/>
                <a:ea typeface="Frutiger Neue LT Pro" pitchFamily="34" charset="-122"/>
                <a:cs typeface="Frutiger Neue LT Pro" pitchFamily="34" charset="-120"/>
              </a:rPr>
              <a:t>05 / 09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57200" y="1783080"/>
            <a:ext cx="5486400" cy="1874520"/>
          </a:xfrm>
          <a:prstGeom prst="roundRect">
            <a:avLst>
              <a:gd name="adj" fmla="val 6829"/>
            </a:avLst>
          </a:prstGeom>
          <a:solidFill>
            <a:srgbClr val="F1EEFF"/>
          </a:solidFill>
          <a:ln w="12700">
            <a:solidFill>
              <a:srgbClr val="F1EEF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19659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31146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總報到 146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2359152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33FF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來源：EIP 報到排名（本月已報到）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265176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B5280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只算「這個月，第一次被約來、實際走進學院報到」的新名單。舊生、班務、線上談的都不在裡面。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245352" y="1783080"/>
            <a:ext cx="5486400" cy="1874520"/>
          </a:xfrm>
          <a:prstGeom prst="roundRect">
            <a:avLst>
              <a:gd name="adj" fmla="val 6829"/>
            </a:avLst>
          </a:prstGeom>
          <a:solidFill>
            <a:srgbClr val="231146"/>
          </a:solidFill>
          <a:ln w="12700">
            <a:solidFill>
              <a:srgbClr val="23114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519672" y="19659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實際面談 160</a:t>
            </a:r>
            <a:endParaRPr lang="en-US" sz="1900" dirty="0"/>
          </a:p>
        </p:txBody>
      </p:sp>
      <p:sp>
        <p:nvSpPr>
          <p:cNvPr id="15" name="Text 12"/>
          <p:cNvSpPr txBox="1"/>
          <p:nvPr/>
        </p:nvSpPr>
        <p:spPr>
          <a:xfrm>
            <a:off x="6519672" y="2359152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AFF33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來源：EIP 當月績效（每位業務的面談數加總）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6519672" y="265176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9E4FF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只要這個月坐下來談過就算一次 —— 不管他是不是這個月報到的。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38404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1146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多出來的 14 位，是這幾種人：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457200" y="4206240"/>
            <a:ext cx="2695194" cy="1234440"/>
          </a:xfrm>
          <a:prstGeom prst="roundRect">
            <a:avLst>
              <a:gd name="adj" fmla="val 1037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57200" y="4206240"/>
            <a:ext cx="2695194" cy="64008"/>
          </a:xfrm>
          <a:prstGeom prst="rect">
            <a:avLst/>
          </a:prstGeom>
          <a:solidFill>
            <a:srgbClr val="ED6B11"/>
          </a:solidFill>
          <a:ln w="12700">
            <a:solidFill>
              <a:srgbClr val="ED6B1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03504" y="4370832"/>
            <a:ext cx="24025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1146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舊名單本月回來談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603504" y="4663440"/>
            <a:ext cx="240258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B5280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上個月、上上個月報到過，這個月才約回來面談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3316986" y="4206240"/>
            <a:ext cx="2695194" cy="1234440"/>
          </a:xfrm>
          <a:prstGeom prst="roundRect">
            <a:avLst>
              <a:gd name="adj" fmla="val 1037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316986" y="4206240"/>
            <a:ext cx="2695194" cy="64008"/>
          </a:xfrm>
          <a:prstGeom prst="rect">
            <a:avLst/>
          </a:prstGeom>
          <a:solidFill>
            <a:srgbClr val="ED6B11"/>
          </a:solidFill>
          <a:ln w="12700">
            <a:solidFill>
              <a:srgbClr val="ED6B11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3463290" y="4370832"/>
            <a:ext cx="24025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1146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班務／舊生</a:t>
            </a:r>
            <a:endParaRPr lang="en-US" sz="1250" dirty="0"/>
          </a:p>
        </p:txBody>
      </p:sp>
      <p:sp>
        <p:nvSpPr>
          <p:cNvPr id="25" name="Text 22"/>
          <p:cNvSpPr txBox="1"/>
          <p:nvPr/>
        </p:nvSpPr>
        <p:spPr>
          <a:xfrm>
            <a:off x="3463290" y="4663440"/>
            <a:ext cx="240258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B5280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已經在上課的學生，談加購、談進階課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6176772" y="4206240"/>
            <a:ext cx="2695194" cy="1234440"/>
          </a:xfrm>
          <a:prstGeom prst="roundRect">
            <a:avLst>
              <a:gd name="adj" fmla="val 1037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176772" y="4206240"/>
            <a:ext cx="2695194" cy="64008"/>
          </a:xfrm>
          <a:prstGeom prst="rect">
            <a:avLst/>
          </a:prstGeom>
          <a:solidFill>
            <a:srgbClr val="ED6B11"/>
          </a:solidFill>
          <a:ln w="12700">
            <a:solidFill>
              <a:srgbClr val="ED6B11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323076" y="4370832"/>
            <a:ext cx="24025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1146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線上面談</a:t>
            </a:r>
            <a:endParaRPr lang="en-US" sz="1250" dirty="0"/>
          </a:p>
        </p:txBody>
      </p:sp>
      <p:sp>
        <p:nvSpPr>
          <p:cNvPr id="29" name="Text 26"/>
          <p:cNvSpPr txBox="1"/>
          <p:nvPr/>
        </p:nvSpPr>
        <p:spPr>
          <a:xfrm>
            <a:off x="6323076" y="4663440"/>
            <a:ext cx="240258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B5280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沒有走進學院、視訊談的，不會進「報到」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9036558" y="4206240"/>
            <a:ext cx="2695194" cy="1234440"/>
          </a:xfrm>
          <a:prstGeom prst="roundRect">
            <a:avLst>
              <a:gd name="adj" fmla="val 1037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9036558" y="4206240"/>
            <a:ext cx="2695194" cy="64008"/>
          </a:xfrm>
          <a:prstGeom prst="rect">
            <a:avLst/>
          </a:prstGeom>
          <a:solidFill>
            <a:srgbClr val="ED6B11"/>
          </a:solidFill>
          <a:ln w="12700">
            <a:solidFill>
              <a:srgbClr val="ED6B11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9182862" y="4370832"/>
            <a:ext cx="24025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1146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轉介紹・自己來</a:t>
            </a:r>
            <a:endParaRPr lang="en-US" sz="1250" dirty="0"/>
          </a:p>
        </p:txBody>
      </p:sp>
      <p:sp>
        <p:nvSpPr>
          <p:cNvPr id="33" name="Text 30"/>
          <p:cNvSpPr txBox="1"/>
          <p:nvPr/>
        </p:nvSpPr>
        <p:spPr>
          <a:xfrm>
            <a:off x="9182862" y="4663440"/>
            <a:ext cx="240258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B5280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朋友帶來、直接到店，沒有走報到流程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457200" y="5623560"/>
            <a:ext cx="11274552" cy="713232"/>
          </a:xfrm>
          <a:prstGeom prst="roundRect">
            <a:avLst>
              <a:gd name="adj" fmla="val 17949"/>
            </a:avLst>
          </a:prstGeom>
          <a:solidFill>
            <a:srgbClr val="F1EEFF"/>
          </a:solidFill>
          <a:ln w="12700">
            <a:solidFill>
              <a:srgbClr val="F1EEF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731520" y="5623560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231146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所以「報到 → 面談」超過 100% 不是壞事，代表你有在經營舊名單。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5280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　卡片上會自動標「含班務／舊名單面談」。反過來，低於 70% 才要緊張 —— 人來了卻沒談到。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2011680" cy="274320"/>
          </a:xfrm>
          <a:prstGeom prst="roundRect">
            <a:avLst>
              <a:gd name="adj" fmla="val 50000"/>
            </a:avLst>
          </a:prstGeom>
          <a:solidFill>
            <a:srgbClr val="F1EEFF"/>
          </a:solidFill>
          <a:ln w="12700">
            <a:solidFill>
              <a:srgbClr val="F1EE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6633FF"/>
                </a:solidFill>
                <a:latin typeface="Frutiger Neue LT Pro" pitchFamily="34" charset="0"/>
                <a:ea typeface="Frutiger Neue LT Pro" pitchFamily="34" charset="-122"/>
                <a:cs typeface="Frutiger Neue LT Pro" pitchFamily="34" charset="-120"/>
              </a:rPr>
              <a:t>CALC · 當下註冊</a:t>
            </a:r>
            <a:endParaRPr lang="en-US" sz="850" dirty="0"/>
          </a:p>
        </p:txBody>
      </p:sp>
      <p:pic>
        <p:nvPicPr>
          <p:cNvPr id="4" name="Image 0" descr="logo-15th-n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63072" y="301752"/>
            <a:ext cx="86868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74980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31146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「當下註冊 15」是怎麼算出來的？</a:t>
            </a:r>
            <a:endParaRPr lang="en-US" sz="29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5280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系統對每一個人跑這五道關卡，五關都過才算一個「當下」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645566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86B0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APPLAUD · 赫綵設計學院　｜　月度漏斗總結・業務教學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10817352" y="645566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E86B0"/>
                </a:solidFill>
                <a:latin typeface="Frutiger Neue LT Pro" pitchFamily="34" charset="0"/>
                <a:ea typeface="Frutiger Neue LT Pro" pitchFamily="34" charset="-122"/>
                <a:cs typeface="Frutiger Neue LT Pro" pitchFamily="34" charset="-120"/>
              </a:rPr>
              <a:t>06 / 09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57200" y="1828800"/>
            <a:ext cx="2137867" cy="2606040"/>
          </a:xfrm>
          <a:prstGeom prst="roundRect">
            <a:avLst>
              <a:gd name="adj" fmla="val 598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0080" y="2011680"/>
            <a:ext cx="457200" cy="457200"/>
          </a:xfrm>
          <a:prstGeom prst="ellipse">
            <a:avLst/>
          </a:prstGeom>
          <a:solidFill>
            <a:srgbClr val="6633FF"/>
          </a:solidFill>
          <a:ln w="12700">
            <a:solidFill>
              <a:srgbClr val="6633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008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Frutiger Neue LT Pro" pitchFamily="34" charset="0"/>
                <a:ea typeface="Frutiger Neue LT Pro" pitchFamily="34" charset="-122"/>
                <a:cs typeface="Frutiger Neue LT Pro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2578608"/>
            <a:ext cx="177210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31146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這個月有面談紀錄嗎？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640080" y="3200400"/>
            <a:ext cx="177210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B5280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面談紀錄總表：建檔日期落在本月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640080" y="4114800"/>
            <a:ext cx="177210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33FF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面談表</a:t>
            </a:r>
            <a:endParaRPr lang="en-US" sz="850" dirty="0"/>
          </a:p>
        </p:txBody>
      </p:sp>
      <p:sp>
        <p:nvSpPr>
          <p:cNvPr id="15" name="Text 12"/>
          <p:cNvSpPr txBox="1"/>
          <p:nvPr/>
        </p:nvSpPr>
        <p:spPr>
          <a:xfrm>
            <a:off x="2576779" y="292608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E86B0"/>
                </a:solidFill>
                <a:latin typeface="Frutiger Neue LT Pro" pitchFamily="34" charset="0"/>
                <a:ea typeface="Frutiger Neue LT Pro" pitchFamily="34" charset="-122"/>
                <a:cs typeface="Frutiger Neue LT Pro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2741371" y="1828800"/>
            <a:ext cx="2137867" cy="2606040"/>
          </a:xfrm>
          <a:prstGeom prst="roundRect">
            <a:avLst>
              <a:gd name="adj" fmla="val 598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924251" y="2011680"/>
            <a:ext cx="457200" cy="457200"/>
          </a:xfrm>
          <a:prstGeom prst="ellipse">
            <a:avLst/>
          </a:prstGeom>
          <a:solidFill>
            <a:srgbClr val="6633FF"/>
          </a:solidFill>
          <a:ln w="12700">
            <a:solidFill>
              <a:srgbClr val="6633F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2924251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Frutiger Neue LT Pro" pitchFamily="34" charset="0"/>
                <a:ea typeface="Frutiger Neue LT Pro" pitchFamily="34" charset="-122"/>
                <a:cs typeface="Frutiger Neue LT Pro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2924251" y="2578608"/>
            <a:ext cx="177210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31146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名單是這個月進來的嗎？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2924251" y="3200400"/>
            <a:ext cx="177210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B5280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通路建檔日期在本月（或展場空白）＝Ⓐ 新名單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B5280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不是 → 丟去「追回」</a:t>
            </a:r>
            <a:endParaRPr lang="en-US" sz="950" dirty="0"/>
          </a:p>
        </p:txBody>
      </p:sp>
      <p:sp>
        <p:nvSpPr>
          <p:cNvPr id="21" name="Text 18"/>
          <p:cNvSpPr txBox="1"/>
          <p:nvPr/>
        </p:nvSpPr>
        <p:spPr>
          <a:xfrm>
            <a:off x="2924251" y="4114800"/>
            <a:ext cx="177210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33FF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面談表</a:t>
            </a:r>
            <a:endParaRPr lang="en-US" sz="850" dirty="0"/>
          </a:p>
        </p:txBody>
      </p:sp>
      <p:sp>
        <p:nvSpPr>
          <p:cNvPr id="22" name="Text 19"/>
          <p:cNvSpPr txBox="1"/>
          <p:nvPr/>
        </p:nvSpPr>
        <p:spPr>
          <a:xfrm>
            <a:off x="4860950" y="292608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E86B0"/>
                </a:solidFill>
                <a:latin typeface="Frutiger Neue LT Pro" pitchFamily="34" charset="0"/>
                <a:ea typeface="Frutiger Neue LT Pro" pitchFamily="34" charset="-122"/>
                <a:cs typeface="Frutiger Neue LT Pro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5025542" y="1828800"/>
            <a:ext cx="2137867" cy="2606040"/>
          </a:xfrm>
          <a:prstGeom prst="roundRect">
            <a:avLst>
              <a:gd name="adj" fmla="val 598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208422" y="2011680"/>
            <a:ext cx="457200" cy="457200"/>
          </a:xfrm>
          <a:prstGeom prst="ellipse">
            <a:avLst/>
          </a:prstGeom>
          <a:solidFill>
            <a:srgbClr val="6633FF"/>
          </a:solidFill>
          <a:ln w="12700">
            <a:solidFill>
              <a:srgbClr val="6633F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208422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Frutiger Neue LT Pro" pitchFamily="34" charset="0"/>
                <a:ea typeface="Frutiger Neue LT Pro" pitchFamily="34" charset="-122"/>
                <a:cs typeface="Frutiger Neue LT Pro" pitchFamily="34" charset="-120"/>
              </a:rPr>
              <a:t>3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5208422" y="2578608"/>
            <a:ext cx="177210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31146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這個月有註冊嗎？</a:t>
            </a:r>
            <a:endParaRPr lang="en-US" sz="1250" dirty="0"/>
          </a:p>
        </p:txBody>
      </p:sp>
      <p:sp>
        <p:nvSpPr>
          <p:cNvPr id="27" name="Text 24"/>
          <p:cNvSpPr txBox="1"/>
          <p:nvPr/>
        </p:nvSpPr>
        <p:spPr>
          <a:xfrm>
            <a:off x="5208422" y="3200400"/>
            <a:ext cx="177210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B5280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營業收支：繳費狀態＝註冊、且不是「學員加購」</a:t>
            </a:r>
            <a:endParaRPr lang="en-US" sz="950" dirty="0"/>
          </a:p>
        </p:txBody>
      </p:sp>
      <p:sp>
        <p:nvSpPr>
          <p:cNvPr id="28" name="Text 25"/>
          <p:cNvSpPr txBox="1"/>
          <p:nvPr/>
        </p:nvSpPr>
        <p:spPr>
          <a:xfrm>
            <a:off x="5208422" y="4114800"/>
            <a:ext cx="177210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33FF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收支表</a:t>
            </a:r>
            <a:endParaRPr lang="en-US" sz="850" dirty="0"/>
          </a:p>
        </p:txBody>
      </p:sp>
      <p:sp>
        <p:nvSpPr>
          <p:cNvPr id="29" name="Text 26"/>
          <p:cNvSpPr txBox="1"/>
          <p:nvPr/>
        </p:nvSpPr>
        <p:spPr>
          <a:xfrm>
            <a:off x="7145122" y="292608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E86B0"/>
                </a:solidFill>
                <a:latin typeface="Frutiger Neue LT Pro" pitchFamily="34" charset="0"/>
                <a:ea typeface="Frutiger Neue LT Pro" pitchFamily="34" charset="-122"/>
                <a:cs typeface="Frutiger Neue LT Pro" pitchFamily="34" charset="-120"/>
              </a:rPr>
              <a:t>→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7309714" y="1828800"/>
            <a:ext cx="2137867" cy="2606040"/>
          </a:xfrm>
          <a:prstGeom prst="roundRect">
            <a:avLst>
              <a:gd name="adj" fmla="val 598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7492594" y="2011680"/>
            <a:ext cx="457200" cy="457200"/>
          </a:xfrm>
          <a:prstGeom prst="ellipse">
            <a:avLst/>
          </a:prstGeom>
          <a:solidFill>
            <a:srgbClr val="6633FF"/>
          </a:solidFill>
          <a:ln w="12700">
            <a:solidFill>
              <a:srgbClr val="6633FF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7492594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Frutiger Neue LT Pro" pitchFamily="34" charset="0"/>
                <a:ea typeface="Frutiger Neue LT Pro" pitchFamily="34" charset="-122"/>
                <a:cs typeface="Frutiger Neue LT Pro" pitchFamily="34" charset="-120"/>
              </a:rPr>
              <a:t>4</a:t>
            </a:r>
            <a:endParaRPr lang="en-US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7492594" y="2578608"/>
            <a:ext cx="177210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31146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金額有到 2 萬嗎？</a:t>
            </a:r>
            <a:endParaRPr lang="en-US" sz="1250" dirty="0"/>
          </a:p>
        </p:txBody>
      </p:sp>
      <p:sp>
        <p:nvSpPr>
          <p:cNvPr id="34" name="Text 31"/>
          <p:cNvSpPr txBox="1"/>
          <p:nvPr/>
        </p:nvSpPr>
        <p:spPr>
          <a:xfrm>
            <a:off x="7492594" y="3200400"/>
            <a:ext cx="177210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B5280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本月所有註冊的業績合計加總 ≥ 20,000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B5280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沒到 → 算「經營中」，標註已繳金額</a:t>
            </a:r>
            <a:endParaRPr lang="en-US" sz="950" dirty="0"/>
          </a:p>
        </p:txBody>
      </p:sp>
      <p:sp>
        <p:nvSpPr>
          <p:cNvPr id="35" name="Text 32"/>
          <p:cNvSpPr txBox="1"/>
          <p:nvPr/>
        </p:nvSpPr>
        <p:spPr>
          <a:xfrm>
            <a:off x="7492594" y="4114800"/>
            <a:ext cx="177210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33FF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收支表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9429293" y="292608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E86B0"/>
                </a:solidFill>
                <a:latin typeface="Frutiger Neue LT Pro" pitchFamily="34" charset="0"/>
                <a:ea typeface="Frutiger Neue LT Pro" pitchFamily="34" charset="-122"/>
                <a:cs typeface="Frutiger Neue LT Pro" pitchFamily="34" charset="-120"/>
              </a:rPr>
              <a:t>→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9593885" y="1828800"/>
            <a:ext cx="2137867" cy="2606040"/>
          </a:xfrm>
          <a:prstGeom prst="roundRect">
            <a:avLst>
              <a:gd name="adj" fmla="val 5988"/>
            </a:avLst>
          </a:prstGeom>
          <a:solidFill>
            <a:srgbClr val="231146"/>
          </a:solidFill>
          <a:ln w="12700">
            <a:solidFill>
              <a:srgbClr val="231146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9776765" y="2011680"/>
            <a:ext cx="457200" cy="457200"/>
          </a:xfrm>
          <a:prstGeom prst="ellipse">
            <a:avLst/>
          </a:prstGeom>
          <a:solidFill>
            <a:srgbClr val="CAFF33"/>
          </a:solidFill>
          <a:ln w="12700">
            <a:solidFill>
              <a:srgbClr val="CAFF33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9776765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31146"/>
                </a:solidFill>
                <a:latin typeface="Frutiger Neue LT Pro" pitchFamily="34" charset="0"/>
                <a:ea typeface="Frutiger Neue LT Pro" pitchFamily="34" charset="-122"/>
                <a:cs typeface="Frutiger Neue LT Pro" pitchFamily="34" charset="-120"/>
              </a:rPr>
              <a:t>5</a:t>
            </a:r>
            <a:endParaRPr lang="en-US" sz="1600" dirty="0"/>
          </a:p>
        </p:txBody>
      </p:sp>
      <p:sp>
        <p:nvSpPr>
          <p:cNvPr id="40" name="Text 37"/>
          <p:cNvSpPr txBox="1"/>
          <p:nvPr/>
        </p:nvSpPr>
        <p:spPr>
          <a:xfrm>
            <a:off x="9776765" y="2578608"/>
            <a:ext cx="177210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註冊日 − 面談日 ≤ 3 天？</a:t>
            </a:r>
            <a:endParaRPr lang="en-US" sz="1250" dirty="0"/>
          </a:p>
        </p:txBody>
      </p:sp>
      <p:sp>
        <p:nvSpPr>
          <p:cNvPr id="41" name="Text 38"/>
          <p:cNvSpPr txBox="1"/>
          <p:nvPr/>
        </p:nvSpPr>
        <p:spPr>
          <a:xfrm>
            <a:off x="9776765" y="3200400"/>
            <a:ext cx="177210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9E4FF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是 → 當下註冊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9E4FF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否 → 試聽後註冊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9776765" y="4114800"/>
            <a:ext cx="177210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AFF33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兩張表對日期</a:t>
            </a:r>
            <a:endParaRPr lang="en-US" sz="850" dirty="0"/>
          </a:p>
        </p:txBody>
      </p:sp>
      <p:sp>
        <p:nvSpPr>
          <p:cNvPr id="43" name="Text 40"/>
          <p:cNvSpPr txBox="1"/>
          <p:nvPr/>
        </p:nvSpPr>
        <p:spPr>
          <a:xfrm>
            <a:off x="457200" y="46177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1146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三個真實例子（8 月・中壢學院）</a:t>
            </a:r>
            <a:endParaRPr lang="en-US" sz="1300" dirty="0"/>
          </a:p>
        </p:txBody>
      </p:sp>
      <p:sp>
        <p:nvSpPr>
          <p:cNvPr id="44" name="Shape 41"/>
          <p:cNvSpPr/>
          <p:nvPr/>
        </p:nvSpPr>
        <p:spPr>
          <a:xfrm>
            <a:off x="457200" y="4956048"/>
            <a:ext cx="3648456" cy="1371600"/>
          </a:xfrm>
          <a:prstGeom prst="roundRect">
            <a:avLst>
              <a:gd name="adj" fmla="val 9333"/>
            </a:avLst>
          </a:prstGeom>
          <a:solidFill>
            <a:srgbClr val="F1EEFF"/>
          </a:solidFill>
          <a:ln w="12700">
            <a:solidFill>
              <a:srgbClr val="F1EEF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640080" y="510235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1146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邱柏勳</a:t>
            </a:r>
            <a:endParaRPr lang="en-US" sz="1400" dirty="0"/>
          </a:p>
        </p:txBody>
      </p:sp>
      <p:sp>
        <p:nvSpPr>
          <p:cNvPr id="46" name="Shape 43"/>
          <p:cNvSpPr/>
          <p:nvPr/>
        </p:nvSpPr>
        <p:spPr>
          <a:xfrm>
            <a:off x="2414016" y="5102352"/>
            <a:ext cx="1508760" cy="310896"/>
          </a:xfrm>
          <a:prstGeom prst="roundRect">
            <a:avLst>
              <a:gd name="adj" fmla="val 50000"/>
            </a:avLst>
          </a:prstGeom>
          <a:solidFill>
            <a:srgbClr val="1F8F45"/>
          </a:solidFill>
          <a:ln w="12700">
            <a:solidFill>
              <a:srgbClr val="1F8F45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2414016" y="5102352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當下註冊</a:t>
            </a:r>
            <a:endParaRPr lang="en-US" sz="1050" dirty="0"/>
          </a:p>
        </p:txBody>
      </p:sp>
      <p:sp>
        <p:nvSpPr>
          <p:cNvPr id="48" name="Text 45"/>
          <p:cNvSpPr txBox="1"/>
          <p:nvPr/>
        </p:nvSpPr>
        <p:spPr>
          <a:xfrm>
            <a:off x="640080" y="5486400"/>
            <a:ext cx="3282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31146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名單 8/20　面談 8/27　註冊 8/27</a:t>
            </a:r>
            <a:endParaRPr lang="en-US" sz="1050" dirty="0"/>
          </a:p>
        </p:txBody>
      </p:sp>
      <p:sp>
        <p:nvSpPr>
          <p:cNvPr id="49" name="Text 46"/>
          <p:cNvSpPr txBox="1"/>
          <p:nvPr/>
        </p:nvSpPr>
        <p:spPr>
          <a:xfrm>
            <a:off x="640080" y="5760720"/>
            <a:ext cx="3282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86B0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判定：Ⓐ 新名單・同一天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4270248" y="4956048"/>
            <a:ext cx="3648456" cy="1371600"/>
          </a:xfrm>
          <a:prstGeom prst="roundRect">
            <a:avLst>
              <a:gd name="adj" fmla="val 9333"/>
            </a:avLst>
          </a:prstGeom>
          <a:solidFill>
            <a:srgbClr val="F1EEFF"/>
          </a:solidFill>
          <a:ln w="12700">
            <a:solidFill>
              <a:srgbClr val="F1EEFF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4453128" y="510235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1146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朱潔舲</a:t>
            </a:r>
            <a:endParaRPr lang="en-US" sz="1400" dirty="0"/>
          </a:p>
        </p:txBody>
      </p:sp>
      <p:sp>
        <p:nvSpPr>
          <p:cNvPr id="52" name="Shape 49"/>
          <p:cNvSpPr/>
          <p:nvPr/>
        </p:nvSpPr>
        <p:spPr>
          <a:xfrm>
            <a:off x="6227064" y="5102352"/>
            <a:ext cx="1508760" cy="310896"/>
          </a:xfrm>
          <a:prstGeom prst="roundRect">
            <a:avLst>
              <a:gd name="adj" fmla="val 50000"/>
            </a:avLst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6227064" y="5102352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追回</a:t>
            </a:r>
            <a:endParaRPr lang="en-US" sz="1050" dirty="0"/>
          </a:p>
        </p:txBody>
      </p:sp>
      <p:sp>
        <p:nvSpPr>
          <p:cNvPr id="54" name="Text 51"/>
          <p:cNvSpPr txBox="1"/>
          <p:nvPr/>
        </p:nvSpPr>
        <p:spPr>
          <a:xfrm>
            <a:off x="4453128" y="5486400"/>
            <a:ext cx="3282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31146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名單 7/22　面談 8/03　註冊 8/23</a:t>
            </a:r>
            <a:endParaRPr lang="en-US" sz="1050" dirty="0"/>
          </a:p>
        </p:txBody>
      </p:sp>
      <p:sp>
        <p:nvSpPr>
          <p:cNvPr id="55" name="Text 52"/>
          <p:cNvSpPr txBox="1"/>
          <p:nvPr/>
        </p:nvSpPr>
        <p:spPr>
          <a:xfrm>
            <a:off x="4453128" y="5760720"/>
            <a:ext cx="3282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86B0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判定：Ⓑ 舊名單（7 月就進來了）</a:t>
            </a:r>
            <a:endParaRPr lang="en-US" sz="950" dirty="0"/>
          </a:p>
        </p:txBody>
      </p:sp>
      <p:sp>
        <p:nvSpPr>
          <p:cNvPr id="56" name="Shape 53"/>
          <p:cNvSpPr/>
          <p:nvPr/>
        </p:nvSpPr>
        <p:spPr>
          <a:xfrm>
            <a:off x="8083296" y="4956048"/>
            <a:ext cx="3648456" cy="1371600"/>
          </a:xfrm>
          <a:prstGeom prst="roundRect">
            <a:avLst>
              <a:gd name="adj" fmla="val 9333"/>
            </a:avLst>
          </a:prstGeom>
          <a:solidFill>
            <a:srgbClr val="F1EEFF"/>
          </a:solidFill>
          <a:ln w="12700">
            <a:solidFill>
              <a:srgbClr val="F1EEFF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8266176" y="510235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1146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羅冠雯</a:t>
            </a:r>
            <a:endParaRPr lang="en-US" sz="1400" dirty="0"/>
          </a:p>
        </p:txBody>
      </p:sp>
      <p:sp>
        <p:nvSpPr>
          <p:cNvPr id="58" name="Shape 55"/>
          <p:cNvSpPr/>
          <p:nvPr/>
        </p:nvSpPr>
        <p:spPr>
          <a:xfrm>
            <a:off x="10040112" y="5102352"/>
            <a:ext cx="1508760" cy="310896"/>
          </a:xfrm>
          <a:prstGeom prst="roundRect">
            <a:avLst>
              <a:gd name="adj" fmla="val 50000"/>
            </a:avLst>
          </a:prstGeom>
          <a:solidFill>
            <a:srgbClr val="6633FF"/>
          </a:solidFill>
          <a:ln w="12700">
            <a:solidFill>
              <a:srgbClr val="6633FF"/>
            </a:solidFill>
            <a:prstDash val="solid"/>
          </a:ln>
        </p:spPr>
      </p:sp>
      <p:sp>
        <p:nvSpPr>
          <p:cNvPr id="59" name="Text 56"/>
          <p:cNvSpPr txBox="1"/>
          <p:nvPr/>
        </p:nvSpPr>
        <p:spPr>
          <a:xfrm>
            <a:off x="10040112" y="5102352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試聽後註冊</a:t>
            </a:r>
            <a:endParaRPr lang="en-US" sz="1050" dirty="0"/>
          </a:p>
        </p:txBody>
      </p:sp>
      <p:sp>
        <p:nvSpPr>
          <p:cNvPr id="60" name="Text 57"/>
          <p:cNvSpPr txBox="1"/>
          <p:nvPr/>
        </p:nvSpPr>
        <p:spPr>
          <a:xfrm>
            <a:off x="8266176" y="5486400"/>
            <a:ext cx="3282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31146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名單 8/01　面談 8/02　註冊 8/13</a:t>
            </a:r>
            <a:endParaRPr lang="en-US" sz="1050" dirty="0"/>
          </a:p>
        </p:txBody>
      </p:sp>
      <p:sp>
        <p:nvSpPr>
          <p:cNvPr id="61" name="Text 58"/>
          <p:cNvSpPr txBox="1"/>
          <p:nvPr/>
        </p:nvSpPr>
        <p:spPr>
          <a:xfrm>
            <a:off x="8266176" y="5760720"/>
            <a:ext cx="3282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86B0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判定：Ⓐ 新名單・隔 11 天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2455164" cy="274320"/>
          </a:xfrm>
          <a:prstGeom prst="roundRect">
            <a:avLst>
              <a:gd name="adj" fmla="val 50000"/>
            </a:avLst>
          </a:prstGeom>
          <a:solidFill>
            <a:srgbClr val="F1EEFF"/>
          </a:solidFill>
          <a:ln w="12700">
            <a:solidFill>
              <a:srgbClr val="F1EE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24551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6633FF"/>
                </a:solidFill>
                <a:latin typeface="Frutiger Neue LT Pro" pitchFamily="34" charset="0"/>
                <a:ea typeface="Frutiger Neue LT Pro" pitchFamily="34" charset="-122"/>
                <a:cs typeface="Frutiger Neue LT Pro" pitchFamily="34" charset="-120"/>
              </a:rPr>
              <a:t>CALC · 追回 / 科數 / 人頭</a:t>
            </a:r>
            <a:endParaRPr lang="en-US" sz="850" dirty="0"/>
          </a:p>
        </p:txBody>
      </p:sp>
      <p:pic>
        <p:nvPicPr>
          <p:cNvPr id="4" name="Image 0" descr="logo-15th-n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63072" y="301752"/>
            <a:ext cx="86868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74980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31146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追回 21・科數 56・人頭 44 的算法</a:t>
            </a:r>
            <a:endParaRPr lang="en-US" sz="29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5280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全部都從「營業收支查詢」的每一筆註冊算出來，只是切法不同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645566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86B0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APPLAUD · 赫綵設計學院　｜　月度漏斗總結・業務教學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10817352" y="645566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E86B0"/>
                </a:solidFill>
                <a:latin typeface="Frutiger Neue LT Pro" pitchFamily="34" charset="0"/>
                <a:ea typeface="Frutiger Neue LT Pro" pitchFamily="34" charset="-122"/>
                <a:cs typeface="Frutiger Neue LT Pro" pitchFamily="34" charset="-120"/>
              </a:rPr>
              <a:t>07 / 09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57200" y="1783080"/>
            <a:ext cx="3566160" cy="3977640"/>
          </a:xfrm>
          <a:prstGeom prst="roundRect">
            <a:avLst>
              <a:gd name="adj" fmla="val 3590"/>
            </a:avLst>
          </a:prstGeom>
          <a:solidFill>
            <a:srgbClr val="F1EEFF"/>
          </a:solidFill>
          <a:ln w="12700">
            <a:solidFill>
              <a:srgbClr val="F1EE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783080"/>
            <a:ext cx="3566160" cy="82296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85800" y="199339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31146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追回 21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685800" y="239572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280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本月簽的，但不是本月才認識的人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685800" y="2724912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B7791F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兩種都算追回：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231146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Ⓐ 名單建檔在上個月以前（Ⓑ 舊名單），本月註冊 ≥ 2 萬 —— 不管本月有沒有再面談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231146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Ⓑ 本月註冊 ≥ 2 萬，但往回 3 個月完全查不到面談紀錄（更早以前的舊名單）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85800" y="4206240"/>
            <a:ext cx="3108960" cy="0"/>
          </a:xfrm>
          <a:prstGeom prst="line">
            <a:avLst/>
          </a:prstGeom>
          <a:noFill/>
          <a:ln w="12700">
            <a:solidFill>
              <a:srgbClr val="E4DE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85800" y="429768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633FF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為什麼要往回抓 3 個月？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685800" y="457200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B5280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才知道這個人是幾月談的、有沒有試聽過，也才列得出「還有幾位可以追」的經營池。只算數字不用回溯，要名單就要。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206240" y="1783080"/>
            <a:ext cx="3566160" cy="3977640"/>
          </a:xfrm>
          <a:prstGeom prst="roundRect">
            <a:avLst>
              <a:gd name="adj" fmla="val 3590"/>
            </a:avLst>
          </a:prstGeom>
          <a:solidFill>
            <a:srgbClr val="F1EEFF"/>
          </a:solidFill>
          <a:ln w="12700">
            <a:solidFill>
              <a:srgbClr val="F1EEF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206240" y="1783080"/>
            <a:ext cx="3566160" cy="82296"/>
          </a:xfrm>
          <a:prstGeom prst="rect">
            <a:avLst/>
          </a:prstGeom>
          <a:solidFill>
            <a:srgbClr val="6633FF"/>
          </a:solidFill>
          <a:ln w="12700">
            <a:solidFill>
              <a:srgbClr val="6633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434840" y="199339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31146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科數 56</a:t>
            </a:r>
            <a:pPr indent="0" marL="0">
              <a:buNone/>
            </a:pPr>
            <a:r>
              <a:rPr lang="en-US" sz="1100" dirty="0">
                <a:solidFill>
                  <a:srgbClr val="8E86B0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　(含加購 91)</a:t>
            </a:r>
            <a:endParaRPr lang="en-US" sz="2200" dirty="0"/>
          </a:p>
        </p:txBody>
      </p:sp>
      <p:sp>
        <p:nvSpPr>
          <p:cNvPr id="20" name="Text 17"/>
          <p:cNvSpPr txBox="1"/>
          <p:nvPr/>
        </p:nvSpPr>
        <p:spPr>
          <a:xfrm>
            <a:off x="4434840" y="239572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280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一筆註冊 ＝ 一科（金額要夠）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4434840" y="2724912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6633FF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算法：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31146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把本月「繳費狀態＝註冊」的每一筆拿出來，</a:t>
            </a:r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231146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業績合計 ≥ 2 萬 的就算 1 科。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B5280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同一個人買兩門 → 算 2 科。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4434840" y="4206240"/>
            <a:ext cx="3108960" cy="0"/>
          </a:xfrm>
          <a:prstGeom prst="line">
            <a:avLst/>
          </a:prstGeom>
          <a:noFill/>
          <a:ln w="12700">
            <a:solidFill>
              <a:srgbClr val="E4DEF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434840" y="429768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8F45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大數字 56 ＝ 新生科數</a:t>
            </a:r>
            <a:endParaRPr lang="en-US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4434840" y="457200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B5280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排除通路副類別「學員加購」（舊生加課）。括號 91 是含加購的總科數 —— 舊生加購 35 科不是新招生的成果，所以不放大字。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7955280" y="1783080"/>
            <a:ext cx="3776472" cy="3977640"/>
          </a:xfrm>
          <a:prstGeom prst="roundRect">
            <a:avLst>
              <a:gd name="adj" fmla="val 3390"/>
            </a:avLst>
          </a:prstGeom>
          <a:solidFill>
            <a:srgbClr val="F1EEFF"/>
          </a:solidFill>
          <a:ln w="12700">
            <a:solidFill>
              <a:srgbClr val="F1EEFF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955280" y="1783080"/>
            <a:ext cx="3776472" cy="82296"/>
          </a:xfrm>
          <a:prstGeom prst="rect">
            <a:avLst/>
          </a:prstGeom>
          <a:solidFill>
            <a:srgbClr val="25CDC1"/>
          </a:solidFill>
          <a:ln w="12700">
            <a:solidFill>
              <a:srgbClr val="25CDC1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183880" y="199339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31146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人頭 44</a:t>
            </a:r>
            <a:pPr indent="0" marL="0">
              <a:buNone/>
            </a:pPr>
            <a:r>
              <a:rPr lang="en-US" sz="1100" dirty="0">
                <a:solidFill>
                  <a:srgbClr val="8E86B0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　(含加購 77)</a:t>
            </a:r>
            <a:endParaRPr lang="en-US" sz="2200" dirty="0"/>
          </a:p>
        </p:txBody>
      </p:sp>
      <p:sp>
        <p:nvSpPr>
          <p:cNvPr id="28" name="Text 25"/>
          <p:cNvSpPr txBox="1"/>
          <p:nvPr/>
        </p:nvSpPr>
        <p:spPr>
          <a:xfrm>
            <a:off x="8183880" y="2395728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280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一個人 ＝ 一個人頭（不管買幾門）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8183880" y="2724912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25CDC1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算法：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31146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把本月註冊</a:t>
            </a:r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231146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依姓名加總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31146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，同一個人加起來 ≥ 2 萬 → 1 個人頭。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B5280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大字 44 一樣是「排除加購後」的新生人頭。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8183880" y="4206240"/>
            <a:ext cx="3291840" cy="0"/>
          </a:xfrm>
          <a:prstGeom prst="line">
            <a:avLst/>
          </a:prstGeom>
          <a:noFill/>
          <a:ln w="12700">
            <a:solidFill>
              <a:srgbClr val="E4DEF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183880" y="429768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633FF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科數 ≠ 人頭</a:t>
            </a:r>
            <a:endParaRPr lang="en-US" sz="1050" dirty="0"/>
          </a:p>
        </p:txBody>
      </p:sp>
      <p:sp>
        <p:nvSpPr>
          <p:cNvPr id="32" name="Text 29"/>
          <p:cNvSpPr txBox="1"/>
          <p:nvPr/>
        </p:nvSpPr>
        <p:spPr>
          <a:xfrm>
            <a:off x="8183880" y="457200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B5280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科數 56 &gt; 人頭 44，代表平均一個人買 1.3 科。科數看「賣了多少門」，人頭看「成交了多少人」，兩個都要看。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457200" y="5897880"/>
            <a:ext cx="11274552" cy="457200"/>
          </a:xfrm>
          <a:prstGeom prst="roundRect">
            <a:avLst>
              <a:gd name="adj" fmla="val 28000"/>
            </a:avLst>
          </a:prstGeom>
          <a:solidFill>
            <a:srgbClr val="231146"/>
          </a:solidFill>
          <a:ln w="12700">
            <a:solidFill>
              <a:srgbClr val="231146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731520" y="58978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FF33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名單都看得到：</a:t>
            </a:r>
            <a:pPr indent="0" marL="0">
              <a:buNone/>
            </a:pPr>
            <a:r>
              <a:rPr lang="en-US" sz="1100" dirty="0">
                <a:solidFill>
                  <a:srgbClr val="E9E4FF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卡片上的「名單」點開，每一組都列出姓名・承辦人・日期・金額，可以逐筆核對，不是黑箱。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2011680" cy="274320"/>
          </a:xfrm>
          <a:prstGeom prst="roundRect">
            <a:avLst>
              <a:gd name="adj" fmla="val 50000"/>
            </a:avLst>
          </a:prstGeom>
          <a:solidFill>
            <a:srgbClr val="F1EEFF"/>
          </a:solidFill>
          <a:ln w="12700">
            <a:solidFill>
              <a:srgbClr val="F1EE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6633FF"/>
                </a:solidFill>
                <a:latin typeface="Frutiger Neue LT Pro" pitchFamily="34" charset="0"/>
                <a:ea typeface="Frutiger Neue LT Pro" pitchFamily="34" charset="-122"/>
                <a:cs typeface="Frutiger Neue LT Pro" pitchFamily="34" charset="-120"/>
              </a:rPr>
              <a:t>ANATOMY</a:t>
            </a:r>
            <a:endParaRPr lang="en-US" sz="850" dirty="0"/>
          </a:p>
        </p:txBody>
      </p:sp>
      <p:pic>
        <p:nvPicPr>
          <p:cNvPr id="4" name="Image 0" descr="logo-15th-n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63072" y="301752"/>
            <a:ext cx="86868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74980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31146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一張卡上的每個數字，分別從哪來</a:t>
            </a:r>
            <a:endParaRPr lang="en-US" sz="29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5280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以 8 月・高雄建國為例，照號碼看右邊說明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645566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86B0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APPLAUD · 赫綵設計學院　｜　月度漏斗總結・業務教學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10817352" y="645566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E86B0"/>
                </a:solidFill>
                <a:latin typeface="Frutiger Neue LT Pro" pitchFamily="34" charset="0"/>
                <a:ea typeface="Frutiger Neue LT Pro" pitchFamily="34" charset="-122"/>
                <a:cs typeface="Frutiger Neue LT Pro" pitchFamily="34" charset="-120"/>
              </a:rPr>
              <a:t>08 / 09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329184" y="1572768"/>
            <a:ext cx="4622673" cy="4818888"/>
          </a:xfrm>
          <a:prstGeom prst="roundRect">
            <a:avLst>
              <a:gd name="adj" fmla="val 2374"/>
            </a:avLst>
          </a:prstGeom>
          <a:solidFill>
            <a:srgbClr val="FFFFFF"/>
          </a:solidFill>
          <a:ln w="12700">
            <a:solidFill>
              <a:srgbClr val="E4DEFF"/>
            </a:solidFill>
            <a:prstDash val="solid"/>
          </a:ln>
        </p:spPr>
      </p:sp>
      <p:pic>
        <p:nvPicPr>
          <p:cNvPr id="10" name="Image 1" descr="card_k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627632"/>
            <a:ext cx="4512945" cy="470916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12966" y="2421836"/>
            <a:ext cx="219456" cy="219456"/>
          </a:xfrm>
          <a:prstGeom prst="ellipse">
            <a:avLst/>
          </a:prstGeom>
          <a:solidFill>
            <a:srgbClr val="6633F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12966" y="242183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Frutiger Neue LT Pro" pitchFamily="34" charset="0"/>
                <a:ea typeface="Frutiger Neue LT Pro" pitchFamily="34" charset="-122"/>
                <a:cs typeface="Frutiger Neue LT Pro" pitchFamily="34" charset="-120"/>
              </a:rPr>
              <a:t>1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1014739" y="2421836"/>
            <a:ext cx="219456" cy="219456"/>
          </a:xfrm>
          <a:prstGeom prst="ellipse">
            <a:avLst/>
          </a:prstGeom>
          <a:solidFill>
            <a:srgbClr val="6633F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1014739" y="242183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Frutiger Neue LT Pro" pitchFamily="34" charset="0"/>
                <a:ea typeface="Frutiger Neue LT Pro" pitchFamily="34" charset="-122"/>
                <a:cs typeface="Frutiger Neue LT Pro" pitchFamily="34" charset="-120"/>
              </a:rPr>
              <a:t>2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1453887" y="2421836"/>
            <a:ext cx="219456" cy="219456"/>
          </a:xfrm>
          <a:prstGeom prst="ellipse">
            <a:avLst/>
          </a:prstGeom>
          <a:solidFill>
            <a:srgbClr val="6633F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1453887" y="242183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Frutiger Neue LT Pro" pitchFamily="34" charset="0"/>
                <a:ea typeface="Frutiger Neue LT Pro" pitchFamily="34" charset="-122"/>
                <a:cs typeface="Frutiger Neue LT Pro" pitchFamily="34" charset="-120"/>
              </a:rPr>
              <a:t>3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1883691" y="2421836"/>
            <a:ext cx="219456" cy="219456"/>
          </a:xfrm>
          <a:prstGeom prst="ellipse">
            <a:avLst/>
          </a:prstGeom>
          <a:solidFill>
            <a:srgbClr val="6633F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1883691" y="242183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Frutiger Neue LT Pro" pitchFamily="34" charset="0"/>
                <a:ea typeface="Frutiger Neue LT Pro" pitchFamily="34" charset="-122"/>
                <a:cs typeface="Frutiger Neue LT Pro" pitchFamily="34" charset="-120"/>
              </a:rPr>
              <a:t>4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2402259" y="2421836"/>
            <a:ext cx="219456" cy="219456"/>
          </a:xfrm>
          <a:prstGeom prst="ellipse">
            <a:avLst/>
          </a:prstGeom>
          <a:solidFill>
            <a:srgbClr val="6633F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2402259" y="242183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Frutiger Neue LT Pro" pitchFamily="34" charset="0"/>
                <a:ea typeface="Frutiger Neue LT Pro" pitchFamily="34" charset="-122"/>
                <a:cs typeface="Frutiger Neue LT Pro" pitchFamily="34" charset="-120"/>
              </a:rPr>
              <a:t>5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3079668" y="2421836"/>
            <a:ext cx="219456" cy="219456"/>
          </a:xfrm>
          <a:prstGeom prst="ellipse">
            <a:avLst/>
          </a:prstGeom>
          <a:solidFill>
            <a:srgbClr val="6633F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3079668" y="242183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Frutiger Neue LT Pro" pitchFamily="34" charset="0"/>
                <a:ea typeface="Frutiger Neue LT Pro" pitchFamily="34" charset="-122"/>
                <a:cs typeface="Frutiger Neue LT Pro" pitchFamily="34" charset="-120"/>
              </a:rPr>
              <a:t>6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3780436" y="2421836"/>
            <a:ext cx="219456" cy="219456"/>
          </a:xfrm>
          <a:prstGeom prst="ellipse">
            <a:avLst/>
          </a:prstGeom>
          <a:solidFill>
            <a:srgbClr val="6633F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3780436" y="242183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Frutiger Neue LT Pro" pitchFamily="34" charset="0"/>
                <a:ea typeface="Frutiger Neue LT Pro" pitchFamily="34" charset="-122"/>
                <a:cs typeface="Frutiger Neue LT Pro" pitchFamily="34" charset="-120"/>
              </a:rPr>
              <a:t>7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4364409" y="2421836"/>
            <a:ext cx="219456" cy="219456"/>
          </a:xfrm>
          <a:prstGeom prst="ellipse">
            <a:avLst/>
          </a:prstGeom>
          <a:solidFill>
            <a:srgbClr val="D63A2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4364409" y="242183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Frutiger Neue LT Pro" pitchFamily="34" charset="0"/>
                <a:ea typeface="Frutiger Neue LT Pro" pitchFamily="34" charset="-122"/>
                <a:cs typeface="Frutiger Neue LT Pro" pitchFamily="34" charset="-120"/>
              </a:rPr>
              <a:t>8</a:t>
            </a:r>
            <a:endParaRPr lang="en-US" sz="950" dirty="0"/>
          </a:p>
        </p:txBody>
      </p:sp>
      <p:sp>
        <p:nvSpPr>
          <p:cNvPr id="27" name="Shape 23"/>
          <p:cNvSpPr/>
          <p:nvPr/>
        </p:nvSpPr>
        <p:spPr>
          <a:xfrm>
            <a:off x="1038098" y="3262757"/>
            <a:ext cx="219456" cy="219456"/>
          </a:xfrm>
          <a:prstGeom prst="ellipse">
            <a:avLst/>
          </a:prstGeom>
          <a:solidFill>
            <a:srgbClr val="6633F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1038098" y="3262757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Frutiger Neue LT Pro" pitchFamily="34" charset="0"/>
                <a:ea typeface="Frutiger Neue LT Pro" pitchFamily="34" charset="-122"/>
                <a:cs typeface="Frutiger Neue LT Pro" pitchFamily="34" charset="-120"/>
              </a:rPr>
              <a:t>9</a:t>
            </a:r>
            <a:endParaRPr lang="en-US" sz="950" dirty="0"/>
          </a:p>
        </p:txBody>
      </p:sp>
      <p:sp>
        <p:nvSpPr>
          <p:cNvPr id="29" name="Shape 25"/>
          <p:cNvSpPr/>
          <p:nvPr/>
        </p:nvSpPr>
        <p:spPr>
          <a:xfrm>
            <a:off x="1949096" y="3262757"/>
            <a:ext cx="219456" cy="219456"/>
          </a:xfrm>
          <a:prstGeom prst="ellipse">
            <a:avLst/>
          </a:prstGeom>
          <a:solidFill>
            <a:srgbClr val="6633F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1949096" y="3262757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Frutiger Neue LT Pro" pitchFamily="34" charset="0"/>
                <a:ea typeface="Frutiger Neue LT Pro" pitchFamily="34" charset="-122"/>
                <a:cs typeface="Frutiger Neue LT Pro" pitchFamily="34" charset="-120"/>
              </a:rPr>
              <a:t>10</a:t>
            </a:r>
            <a:endParaRPr lang="en-US" sz="950" dirty="0"/>
          </a:p>
        </p:txBody>
      </p:sp>
      <p:sp>
        <p:nvSpPr>
          <p:cNvPr id="31" name="Shape 27"/>
          <p:cNvSpPr/>
          <p:nvPr/>
        </p:nvSpPr>
        <p:spPr>
          <a:xfrm>
            <a:off x="2864766" y="3262757"/>
            <a:ext cx="219456" cy="219456"/>
          </a:xfrm>
          <a:prstGeom prst="ellipse">
            <a:avLst/>
          </a:prstGeom>
          <a:solidFill>
            <a:srgbClr val="6633F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2864766" y="3262757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Frutiger Neue LT Pro" pitchFamily="34" charset="0"/>
                <a:ea typeface="Frutiger Neue LT Pro" pitchFamily="34" charset="-122"/>
                <a:cs typeface="Frutiger Neue LT Pro" pitchFamily="34" charset="-120"/>
              </a:rPr>
              <a:t>11</a:t>
            </a:r>
            <a:endParaRPr lang="en-US" sz="950" dirty="0"/>
          </a:p>
        </p:txBody>
      </p:sp>
      <p:sp>
        <p:nvSpPr>
          <p:cNvPr id="33" name="Shape 29"/>
          <p:cNvSpPr/>
          <p:nvPr/>
        </p:nvSpPr>
        <p:spPr>
          <a:xfrm>
            <a:off x="3920590" y="3262757"/>
            <a:ext cx="219456" cy="219456"/>
          </a:xfrm>
          <a:prstGeom prst="ellipse">
            <a:avLst/>
          </a:prstGeom>
          <a:solidFill>
            <a:srgbClr val="6633F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3920590" y="3262757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Frutiger Neue LT Pro" pitchFamily="34" charset="0"/>
                <a:ea typeface="Frutiger Neue LT Pro" pitchFamily="34" charset="-122"/>
                <a:cs typeface="Frutiger Neue LT Pro" pitchFamily="34" charset="-120"/>
              </a:rPr>
              <a:t>12</a:t>
            </a:r>
            <a:endParaRPr lang="en-US" sz="950" dirty="0"/>
          </a:p>
        </p:txBody>
      </p:sp>
      <p:sp>
        <p:nvSpPr>
          <p:cNvPr id="35" name="Shape 31"/>
          <p:cNvSpPr/>
          <p:nvPr/>
        </p:nvSpPr>
        <p:spPr>
          <a:xfrm>
            <a:off x="496171" y="3552408"/>
            <a:ext cx="219456" cy="219456"/>
          </a:xfrm>
          <a:prstGeom prst="ellipse">
            <a:avLst/>
          </a:prstGeom>
          <a:solidFill>
            <a:srgbClr val="6633F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496171" y="355240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Frutiger Neue LT Pro" pitchFamily="34" charset="0"/>
                <a:ea typeface="Frutiger Neue LT Pro" pitchFamily="34" charset="-122"/>
                <a:cs typeface="Frutiger Neue LT Pro" pitchFamily="34" charset="-120"/>
              </a:rPr>
              <a:t>13</a:t>
            </a:r>
            <a:endParaRPr lang="en-US" sz="950" dirty="0"/>
          </a:p>
        </p:txBody>
      </p:sp>
      <p:sp>
        <p:nvSpPr>
          <p:cNvPr id="37" name="Shape 33"/>
          <p:cNvSpPr/>
          <p:nvPr/>
        </p:nvSpPr>
        <p:spPr>
          <a:xfrm>
            <a:off x="496171" y="5094097"/>
            <a:ext cx="219456" cy="219456"/>
          </a:xfrm>
          <a:prstGeom prst="ellipse">
            <a:avLst/>
          </a:prstGeom>
          <a:solidFill>
            <a:srgbClr val="6633F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8" name="Text 34"/>
          <p:cNvSpPr txBox="1"/>
          <p:nvPr/>
        </p:nvSpPr>
        <p:spPr>
          <a:xfrm>
            <a:off x="496171" y="5094097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Frutiger Neue LT Pro" pitchFamily="34" charset="0"/>
                <a:ea typeface="Frutiger Neue LT Pro" pitchFamily="34" charset="-122"/>
                <a:cs typeface="Frutiger Neue LT Pro" pitchFamily="34" charset="-120"/>
              </a:rPr>
              <a:t>14</a:t>
            </a:r>
            <a:endParaRPr lang="en-US" sz="950" dirty="0"/>
          </a:p>
        </p:txBody>
      </p:sp>
      <p:sp>
        <p:nvSpPr>
          <p:cNvPr id="39" name="Shape 35"/>
          <p:cNvSpPr/>
          <p:nvPr/>
        </p:nvSpPr>
        <p:spPr>
          <a:xfrm>
            <a:off x="4513907" y="5607993"/>
            <a:ext cx="219456" cy="219456"/>
          </a:xfrm>
          <a:prstGeom prst="ellipse">
            <a:avLst/>
          </a:prstGeom>
          <a:solidFill>
            <a:srgbClr val="6633F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40" name="Text 36"/>
          <p:cNvSpPr txBox="1"/>
          <p:nvPr/>
        </p:nvSpPr>
        <p:spPr>
          <a:xfrm>
            <a:off x="4513907" y="5607993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Frutiger Neue LT Pro" pitchFamily="34" charset="0"/>
                <a:ea typeface="Frutiger Neue LT Pro" pitchFamily="34" charset="-122"/>
                <a:cs typeface="Frutiger Neue LT Pro" pitchFamily="34" charset="-120"/>
              </a:rPr>
              <a:t>15</a:t>
            </a:r>
            <a:endParaRPr lang="en-US" sz="950" dirty="0"/>
          </a:p>
        </p:txBody>
      </p:sp>
      <p:sp>
        <p:nvSpPr>
          <p:cNvPr id="41" name="Shape 37"/>
          <p:cNvSpPr/>
          <p:nvPr/>
        </p:nvSpPr>
        <p:spPr>
          <a:xfrm>
            <a:off x="5281041" y="1572768"/>
            <a:ext cx="219456" cy="219456"/>
          </a:xfrm>
          <a:prstGeom prst="ellipse">
            <a:avLst/>
          </a:prstGeom>
          <a:solidFill>
            <a:srgbClr val="6633F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42" name="Text 38"/>
          <p:cNvSpPr txBox="1"/>
          <p:nvPr/>
        </p:nvSpPr>
        <p:spPr>
          <a:xfrm>
            <a:off x="5281041" y="157276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Frutiger Neue LT Pro" pitchFamily="34" charset="0"/>
                <a:ea typeface="Frutiger Neue LT Pro" pitchFamily="34" charset="-122"/>
                <a:cs typeface="Frutiger Neue LT Pro" pitchFamily="34" charset="-120"/>
              </a:rPr>
              <a:t>1</a:t>
            </a:r>
            <a:endParaRPr lang="en-US" sz="950" dirty="0"/>
          </a:p>
        </p:txBody>
      </p:sp>
      <p:sp>
        <p:nvSpPr>
          <p:cNvPr id="43" name="Text 39"/>
          <p:cNvSpPr txBox="1"/>
          <p:nvPr/>
        </p:nvSpPr>
        <p:spPr>
          <a:xfrm>
            <a:off x="5573649" y="1545336"/>
            <a:ext cx="624954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31146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註冊Ⓐ 24</a:t>
            </a:r>
            <a:endParaRPr lang="en-US" sz="1000" dirty="0"/>
          </a:p>
        </p:txBody>
      </p:sp>
      <p:sp>
        <p:nvSpPr>
          <p:cNvPr id="44" name="Text 40"/>
          <p:cNvSpPr txBox="1"/>
          <p:nvPr/>
        </p:nvSpPr>
        <p:spPr>
          <a:xfrm>
            <a:off x="5573649" y="1719072"/>
            <a:ext cx="6249543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840" dirty="0">
                <a:solidFill>
                  <a:srgbClr val="5B5280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EIP 當月績效原始值（新名單註冊）</a:t>
            </a:r>
            <a:endParaRPr lang="en-US" sz="840" dirty="0"/>
          </a:p>
        </p:txBody>
      </p:sp>
      <p:sp>
        <p:nvSpPr>
          <p:cNvPr id="45" name="Shape 41"/>
          <p:cNvSpPr/>
          <p:nvPr/>
        </p:nvSpPr>
        <p:spPr>
          <a:xfrm>
            <a:off x="5281041" y="1851660"/>
            <a:ext cx="219456" cy="219456"/>
          </a:xfrm>
          <a:prstGeom prst="ellipse">
            <a:avLst/>
          </a:prstGeom>
          <a:solidFill>
            <a:srgbClr val="6633F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46" name="Text 42"/>
          <p:cNvSpPr txBox="1"/>
          <p:nvPr/>
        </p:nvSpPr>
        <p:spPr>
          <a:xfrm>
            <a:off x="5281041" y="185166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Frutiger Neue LT Pro" pitchFamily="34" charset="0"/>
                <a:ea typeface="Frutiger Neue LT Pro" pitchFamily="34" charset="-122"/>
                <a:cs typeface="Frutiger Neue LT Pro" pitchFamily="34" charset="-120"/>
              </a:rPr>
              <a:t>2</a:t>
            </a:r>
            <a:endParaRPr lang="en-US" sz="950" dirty="0"/>
          </a:p>
        </p:txBody>
      </p:sp>
      <p:sp>
        <p:nvSpPr>
          <p:cNvPr id="47" name="Text 43"/>
          <p:cNvSpPr txBox="1"/>
          <p:nvPr/>
        </p:nvSpPr>
        <p:spPr>
          <a:xfrm>
            <a:off x="5573649" y="1824228"/>
            <a:ext cx="624954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31146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當下 15</a:t>
            </a:r>
            <a:endParaRPr lang="en-US" sz="1000" dirty="0"/>
          </a:p>
        </p:txBody>
      </p:sp>
      <p:sp>
        <p:nvSpPr>
          <p:cNvPr id="48" name="Text 44"/>
          <p:cNvSpPr txBox="1"/>
          <p:nvPr/>
        </p:nvSpPr>
        <p:spPr>
          <a:xfrm>
            <a:off x="5573649" y="1997964"/>
            <a:ext cx="6249543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840" dirty="0">
                <a:solidFill>
                  <a:srgbClr val="5B5280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Ⓐ 名單・本月面談・≥2萬・註冊−面談 ≤3 天</a:t>
            </a:r>
            <a:endParaRPr lang="en-US" sz="840" dirty="0"/>
          </a:p>
        </p:txBody>
      </p:sp>
      <p:sp>
        <p:nvSpPr>
          <p:cNvPr id="49" name="Shape 45"/>
          <p:cNvSpPr/>
          <p:nvPr/>
        </p:nvSpPr>
        <p:spPr>
          <a:xfrm>
            <a:off x="5281041" y="2130552"/>
            <a:ext cx="219456" cy="219456"/>
          </a:xfrm>
          <a:prstGeom prst="ellipse">
            <a:avLst/>
          </a:prstGeom>
          <a:solidFill>
            <a:srgbClr val="6633F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50" name="Text 46"/>
          <p:cNvSpPr txBox="1"/>
          <p:nvPr/>
        </p:nvSpPr>
        <p:spPr>
          <a:xfrm>
            <a:off x="5281041" y="213055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Frutiger Neue LT Pro" pitchFamily="34" charset="0"/>
                <a:ea typeface="Frutiger Neue LT Pro" pitchFamily="34" charset="-122"/>
                <a:cs typeface="Frutiger Neue LT Pro" pitchFamily="34" charset="-120"/>
              </a:rPr>
              <a:t>3</a:t>
            </a:r>
            <a:endParaRPr lang="en-US" sz="950" dirty="0"/>
          </a:p>
        </p:txBody>
      </p:sp>
      <p:sp>
        <p:nvSpPr>
          <p:cNvPr id="51" name="Text 47"/>
          <p:cNvSpPr txBox="1"/>
          <p:nvPr/>
        </p:nvSpPr>
        <p:spPr>
          <a:xfrm>
            <a:off x="5573649" y="2103120"/>
            <a:ext cx="624954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31146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註冊Ⓑ 57</a:t>
            </a:r>
            <a:endParaRPr lang="en-US" sz="1000" dirty="0"/>
          </a:p>
        </p:txBody>
      </p:sp>
      <p:sp>
        <p:nvSpPr>
          <p:cNvPr id="52" name="Text 48"/>
          <p:cNvSpPr txBox="1"/>
          <p:nvPr/>
        </p:nvSpPr>
        <p:spPr>
          <a:xfrm>
            <a:off x="5573649" y="2276856"/>
            <a:ext cx="6249543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840" dirty="0">
                <a:solidFill>
                  <a:srgbClr val="5B5280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EIP 當月績效原始值（舊名單註冊，含舊生加購）</a:t>
            </a:r>
            <a:endParaRPr lang="en-US" sz="840" dirty="0"/>
          </a:p>
        </p:txBody>
      </p:sp>
      <p:sp>
        <p:nvSpPr>
          <p:cNvPr id="53" name="Shape 49"/>
          <p:cNvSpPr/>
          <p:nvPr/>
        </p:nvSpPr>
        <p:spPr>
          <a:xfrm>
            <a:off x="5281041" y="2409444"/>
            <a:ext cx="219456" cy="219456"/>
          </a:xfrm>
          <a:prstGeom prst="ellipse">
            <a:avLst/>
          </a:prstGeom>
          <a:solidFill>
            <a:srgbClr val="6633F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54" name="Text 50"/>
          <p:cNvSpPr txBox="1"/>
          <p:nvPr/>
        </p:nvSpPr>
        <p:spPr>
          <a:xfrm>
            <a:off x="5281041" y="240944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Frutiger Neue LT Pro" pitchFamily="34" charset="0"/>
                <a:ea typeface="Frutiger Neue LT Pro" pitchFamily="34" charset="-122"/>
                <a:cs typeface="Frutiger Neue LT Pro" pitchFamily="34" charset="-120"/>
              </a:rPr>
              <a:t>4</a:t>
            </a:r>
            <a:endParaRPr lang="en-US" sz="950" dirty="0"/>
          </a:p>
        </p:txBody>
      </p:sp>
      <p:sp>
        <p:nvSpPr>
          <p:cNvPr id="55" name="Text 51"/>
          <p:cNvSpPr txBox="1"/>
          <p:nvPr/>
        </p:nvSpPr>
        <p:spPr>
          <a:xfrm>
            <a:off x="5573649" y="2382012"/>
            <a:ext cx="624954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31146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追回 21</a:t>
            </a:r>
            <a:endParaRPr lang="en-US" sz="1000" dirty="0"/>
          </a:p>
        </p:txBody>
      </p:sp>
      <p:sp>
        <p:nvSpPr>
          <p:cNvPr id="56" name="Text 52"/>
          <p:cNvSpPr txBox="1"/>
          <p:nvPr/>
        </p:nvSpPr>
        <p:spPr>
          <a:xfrm>
            <a:off x="5573649" y="2555748"/>
            <a:ext cx="6249543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840" dirty="0">
                <a:solidFill>
                  <a:srgbClr val="5B5280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Ⓑ 舊名單本月簽 ＋ 3 個月內無面談紀錄者（≥2萬）</a:t>
            </a:r>
            <a:endParaRPr lang="en-US" sz="840" dirty="0"/>
          </a:p>
        </p:txBody>
      </p:sp>
      <p:sp>
        <p:nvSpPr>
          <p:cNvPr id="57" name="Shape 53"/>
          <p:cNvSpPr/>
          <p:nvPr/>
        </p:nvSpPr>
        <p:spPr>
          <a:xfrm>
            <a:off x="5281041" y="2688336"/>
            <a:ext cx="219456" cy="219456"/>
          </a:xfrm>
          <a:prstGeom prst="ellipse">
            <a:avLst/>
          </a:prstGeom>
          <a:solidFill>
            <a:srgbClr val="6633F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58" name="Text 54"/>
          <p:cNvSpPr txBox="1"/>
          <p:nvPr/>
        </p:nvSpPr>
        <p:spPr>
          <a:xfrm>
            <a:off x="5281041" y="268833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Frutiger Neue LT Pro" pitchFamily="34" charset="0"/>
                <a:ea typeface="Frutiger Neue LT Pro" pitchFamily="34" charset="-122"/>
                <a:cs typeface="Frutiger Neue LT Pro" pitchFamily="34" charset="-120"/>
              </a:rPr>
              <a:t>5</a:t>
            </a:r>
            <a:endParaRPr lang="en-US" sz="950" dirty="0"/>
          </a:p>
        </p:txBody>
      </p:sp>
      <p:sp>
        <p:nvSpPr>
          <p:cNvPr id="59" name="Text 55"/>
          <p:cNvSpPr txBox="1"/>
          <p:nvPr/>
        </p:nvSpPr>
        <p:spPr>
          <a:xfrm>
            <a:off x="5573649" y="2660904"/>
            <a:ext cx="624954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31146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科數 56（含加購 91）</a:t>
            </a:r>
            <a:endParaRPr lang="en-US" sz="1000" dirty="0"/>
          </a:p>
        </p:txBody>
      </p:sp>
      <p:sp>
        <p:nvSpPr>
          <p:cNvPr id="60" name="Text 56"/>
          <p:cNvSpPr txBox="1"/>
          <p:nvPr/>
        </p:nvSpPr>
        <p:spPr>
          <a:xfrm>
            <a:off x="5573649" y="2834640"/>
            <a:ext cx="6249543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840" dirty="0">
                <a:solidFill>
                  <a:srgbClr val="5B5280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本月每筆註冊 ≥2萬＝1 科；大字排除「學員加購」</a:t>
            </a:r>
            <a:endParaRPr lang="en-US" sz="840" dirty="0"/>
          </a:p>
        </p:txBody>
      </p:sp>
      <p:sp>
        <p:nvSpPr>
          <p:cNvPr id="61" name="Shape 57"/>
          <p:cNvSpPr/>
          <p:nvPr/>
        </p:nvSpPr>
        <p:spPr>
          <a:xfrm>
            <a:off x="5281041" y="2967228"/>
            <a:ext cx="219456" cy="219456"/>
          </a:xfrm>
          <a:prstGeom prst="ellipse">
            <a:avLst/>
          </a:prstGeom>
          <a:solidFill>
            <a:srgbClr val="6633F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62" name="Text 58"/>
          <p:cNvSpPr txBox="1"/>
          <p:nvPr/>
        </p:nvSpPr>
        <p:spPr>
          <a:xfrm>
            <a:off x="5281041" y="296722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Frutiger Neue LT Pro" pitchFamily="34" charset="0"/>
                <a:ea typeface="Frutiger Neue LT Pro" pitchFamily="34" charset="-122"/>
                <a:cs typeface="Frutiger Neue LT Pro" pitchFamily="34" charset="-120"/>
              </a:rPr>
              <a:t>6</a:t>
            </a:r>
            <a:endParaRPr lang="en-US" sz="950" dirty="0"/>
          </a:p>
        </p:txBody>
      </p:sp>
      <p:sp>
        <p:nvSpPr>
          <p:cNvPr id="63" name="Text 59"/>
          <p:cNvSpPr txBox="1"/>
          <p:nvPr/>
        </p:nvSpPr>
        <p:spPr>
          <a:xfrm>
            <a:off x="5573649" y="2939796"/>
            <a:ext cx="624954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31146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人頭 44（含加購 77）</a:t>
            </a:r>
            <a:endParaRPr lang="en-US" sz="1000" dirty="0"/>
          </a:p>
        </p:txBody>
      </p:sp>
      <p:sp>
        <p:nvSpPr>
          <p:cNvPr id="64" name="Text 60"/>
          <p:cNvSpPr txBox="1"/>
          <p:nvPr/>
        </p:nvSpPr>
        <p:spPr>
          <a:xfrm>
            <a:off x="5573649" y="3113532"/>
            <a:ext cx="6249543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840" dirty="0">
                <a:solidFill>
                  <a:srgbClr val="5B5280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同一姓名本月註冊加總 ≥2萬＝1 人頭；大字排除加購</a:t>
            </a:r>
            <a:endParaRPr lang="en-US" sz="840" dirty="0"/>
          </a:p>
        </p:txBody>
      </p:sp>
      <p:sp>
        <p:nvSpPr>
          <p:cNvPr id="65" name="Shape 61"/>
          <p:cNvSpPr/>
          <p:nvPr/>
        </p:nvSpPr>
        <p:spPr>
          <a:xfrm>
            <a:off x="5281041" y="3246120"/>
            <a:ext cx="219456" cy="219456"/>
          </a:xfrm>
          <a:prstGeom prst="ellipse">
            <a:avLst/>
          </a:prstGeom>
          <a:solidFill>
            <a:srgbClr val="6633F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66" name="Text 62"/>
          <p:cNvSpPr txBox="1"/>
          <p:nvPr/>
        </p:nvSpPr>
        <p:spPr>
          <a:xfrm>
            <a:off x="5281041" y="324612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Frutiger Neue LT Pro" pitchFamily="34" charset="0"/>
                <a:ea typeface="Frutiger Neue LT Pro" pitchFamily="34" charset="-122"/>
                <a:cs typeface="Frutiger Neue LT Pro" pitchFamily="34" charset="-120"/>
              </a:rPr>
              <a:t>7</a:t>
            </a:r>
            <a:endParaRPr lang="en-US" sz="950" dirty="0"/>
          </a:p>
        </p:txBody>
      </p:sp>
      <p:sp>
        <p:nvSpPr>
          <p:cNvPr id="67" name="Text 63"/>
          <p:cNvSpPr txBox="1"/>
          <p:nvPr/>
        </p:nvSpPr>
        <p:spPr>
          <a:xfrm>
            <a:off x="5573649" y="3218688"/>
            <a:ext cx="624954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31146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新業績 148 萬</a:t>
            </a:r>
            <a:endParaRPr lang="en-US" sz="1000" dirty="0"/>
          </a:p>
        </p:txBody>
      </p:sp>
      <p:sp>
        <p:nvSpPr>
          <p:cNvPr id="68" name="Text 64"/>
          <p:cNvSpPr txBox="1"/>
          <p:nvPr/>
        </p:nvSpPr>
        <p:spPr>
          <a:xfrm>
            <a:off x="5573649" y="3392424"/>
            <a:ext cx="6249543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840" dirty="0">
                <a:solidFill>
                  <a:srgbClr val="5B5280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EIP 當月績效的 new_perf 加總</a:t>
            </a:r>
            <a:endParaRPr lang="en-US" sz="840" dirty="0"/>
          </a:p>
        </p:txBody>
      </p:sp>
      <p:sp>
        <p:nvSpPr>
          <p:cNvPr id="69" name="Shape 65"/>
          <p:cNvSpPr/>
          <p:nvPr/>
        </p:nvSpPr>
        <p:spPr>
          <a:xfrm>
            <a:off x="5207889" y="3616452"/>
            <a:ext cx="6651879" cy="603504"/>
          </a:xfrm>
          <a:prstGeom prst="roundRect">
            <a:avLst>
              <a:gd name="adj" fmla="val 12121"/>
            </a:avLst>
          </a:prstGeom>
          <a:solidFill>
            <a:srgbClr val="FFF1F0"/>
          </a:solidFill>
          <a:ln w="9525">
            <a:solidFill>
              <a:srgbClr val="D63A2F"/>
            </a:solidFill>
            <a:prstDash val="solid"/>
          </a:ln>
        </p:spPr>
      </p:sp>
      <p:sp>
        <p:nvSpPr>
          <p:cNvPr id="70" name="Shape 66"/>
          <p:cNvSpPr/>
          <p:nvPr/>
        </p:nvSpPr>
        <p:spPr>
          <a:xfrm>
            <a:off x="5281041" y="3662172"/>
            <a:ext cx="219456" cy="219456"/>
          </a:xfrm>
          <a:prstGeom prst="ellipse">
            <a:avLst/>
          </a:prstGeom>
          <a:solidFill>
            <a:srgbClr val="D63A2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71" name="Text 67"/>
          <p:cNvSpPr txBox="1"/>
          <p:nvPr/>
        </p:nvSpPr>
        <p:spPr>
          <a:xfrm>
            <a:off x="5281041" y="366217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Frutiger Neue LT Pro" pitchFamily="34" charset="0"/>
                <a:ea typeface="Frutiger Neue LT Pro" pitchFamily="34" charset="-122"/>
                <a:cs typeface="Frutiger Neue LT Pro" pitchFamily="34" charset="-120"/>
              </a:rPr>
              <a:t>8</a:t>
            </a:r>
            <a:endParaRPr lang="en-US" sz="950" dirty="0"/>
          </a:p>
        </p:txBody>
      </p:sp>
      <p:sp>
        <p:nvSpPr>
          <p:cNvPr id="72" name="Text 68"/>
          <p:cNvSpPr txBox="1"/>
          <p:nvPr/>
        </p:nvSpPr>
        <p:spPr>
          <a:xfrm>
            <a:off x="5573649" y="3634740"/>
            <a:ext cx="624954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63A2F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自動 Ⓐ-1　← 這是「對帳章」</a:t>
            </a:r>
            <a:endParaRPr lang="en-US" sz="1000" dirty="0"/>
          </a:p>
        </p:txBody>
      </p:sp>
      <p:sp>
        <p:nvSpPr>
          <p:cNvPr id="73" name="Text 69"/>
          <p:cNvSpPr txBox="1"/>
          <p:nvPr/>
        </p:nvSpPr>
        <p:spPr>
          <a:xfrm>
            <a:off x="5573649" y="3808476"/>
            <a:ext cx="624954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840" dirty="0">
                <a:solidFill>
                  <a:srgbClr val="231146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我算的 當下15＋試聽後8＝23，EIP 註冊Ⓐ＝24，差 1 位。顯示 Ⓐ✓ 代表完全對上；±N 多半是跨月入帳或解約造成，不影響其他數字。</a:t>
            </a:r>
            <a:endParaRPr lang="en-US" sz="840" dirty="0"/>
          </a:p>
        </p:txBody>
      </p:sp>
      <p:sp>
        <p:nvSpPr>
          <p:cNvPr id="74" name="Shape 70"/>
          <p:cNvSpPr/>
          <p:nvPr/>
        </p:nvSpPr>
        <p:spPr>
          <a:xfrm>
            <a:off x="5281041" y="4320540"/>
            <a:ext cx="219456" cy="219456"/>
          </a:xfrm>
          <a:prstGeom prst="ellipse">
            <a:avLst/>
          </a:prstGeom>
          <a:solidFill>
            <a:srgbClr val="6633F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75" name="Text 71"/>
          <p:cNvSpPr txBox="1"/>
          <p:nvPr/>
        </p:nvSpPr>
        <p:spPr>
          <a:xfrm>
            <a:off x="5281041" y="432054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Frutiger Neue LT Pro" pitchFamily="34" charset="0"/>
                <a:ea typeface="Frutiger Neue LT Pro" pitchFamily="34" charset="-122"/>
                <a:cs typeface="Frutiger Neue LT Pro" pitchFamily="34" charset="-120"/>
              </a:rPr>
              <a:t>9</a:t>
            </a:r>
            <a:endParaRPr lang="en-US" sz="950" dirty="0"/>
          </a:p>
        </p:txBody>
      </p:sp>
      <p:sp>
        <p:nvSpPr>
          <p:cNvPr id="76" name="Text 72"/>
          <p:cNvSpPr txBox="1"/>
          <p:nvPr/>
        </p:nvSpPr>
        <p:spPr>
          <a:xfrm>
            <a:off x="5573649" y="4293108"/>
            <a:ext cx="624954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31146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總報到 146</a:t>
            </a:r>
            <a:endParaRPr lang="en-US" sz="1000" dirty="0"/>
          </a:p>
        </p:txBody>
      </p:sp>
      <p:sp>
        <p:nvSpPr>
          <p:cNvPr id="77" name="Text 73"/>
          <p:cNvSpPr txBox="1"/>
          <p:nvPr/>
        </p:nvSpPr>
        <p:spPr>
          <a:xfrm>
            <a:off x="5573649" y="4466844"/>
            <a:ext cx="6249543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840" dirty="0">
                <a:solidFill>
                  <a:srgbClr val="5B5280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EIP 報到排名（本月已報到）</a:t>
            </a:r>
            <a:endParaRPr lang="en-US" sz="840" dirty="0"/>
          </a:p>
        </p:txBody>
      </p:sp>
      <p:sp>
        <p:nvSpPr>
          <p:cNvPr id="78" name="Shape 74"/>
          <p:cNvSpPr/>
          <p:nvPr/>
        </p:nvSpPr>
        <p:spPr>
          <a:xfrm>
            <a:off x="5281041" y="4599432"/>
            <a:ext cx="219456" cy="219456"/>
          </a:xfrm>
          <a:prstGeom prst="ellipse">
            <a:avLst/>
          </a:prstGeom>
          <a:solidFill>
            <a:srgbClr val="6633F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79" name="Text 75"/>
          <p:cNvSpPr txBox="1"/>
          <p:nvPr/>
        </p:nvSpPr>
        <p:spPr>
          <a:xfrm>
            <a:off x="5281041" y="45994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Frutiger Neue LT Pro" pitchFamily="34" charset="0"/>
                <a:ea typeface="Frutiger Neue LT Pro" pitchFamily="34" charset="-122"/>
                <a:cs typeface="Frutiger Neue LT Pro" pitchFamily="34" charset="-120"/>
              </a:rPr>
              <a:t>10</a:t>
            </a:r>
            <a:endParaRPr lang="en-US" sz="950" dirty="0"/>
          </a:p>
        </p:txBody>
      </p:sp>
      <p:sp>
        <p:nvSpPr>
          <p:cNvPr id="80" name="Text 76"/>
          <p:cNvSpPr txBox="1"/>
          <p:nvPr/>
        </p:nvSpPr>
        <p:spPr>
          <a:xfrm>
            <a:off x="5573649" y="4572000"/>
            <a:ext cx="624954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31146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實際面談 160</a:t>
            </a:r>
            <a:endParaRPr lang="en-US" sz="1000" dirty="0"/>
          </a:p>
        </p:txBody>
      </p:sp>
      <p:sp>
        <p:nvSpPr>
          <p:cNvPr id="81" name="Text 77"/>
          <p:cNvSpPr txBox="1"/>
          <p:nvPr/>
        </p:nvSpPr>
        <p:spPr>
          <a:xfrm>
            <a:off x="5573649" y="4745736"/>
            <a:ext cx="6249543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840" dirty="0">
                <a:solidFill>
                  <a:srgbClr val="5B5280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EIP 當月績效面談數加總（含班務／舊名單，所以會 &gt;報到）</a:t>
            </a:r>
            <a:endParaRPr lang="en-US" sz="840" dirty="0"/>
          </a:p>
        </p:txBody>
      </p:sp>
      <p:sp>
        <p:nvSpPr>
          <p:cNvPr id="82" name="Shape 78"/>
          <p:cNvSpPr/>
          <p:nvPr/>
        </p:nvSpPr>
        <p:spPr>
          <a:xfrm>
            <a:off x="5281041" y="4878324"/>
            <a:ext cx="219456" cy="219456"/>
          </a:xfrm>
          <a:prstGeom prst="ellipse">
            <a:avLst/>
          </a:prstGeom>
          <a:solidFill>
            <a:srgbClr val="6633F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83" name="Text 79"/>
          <p:cNvSpPr txBox="1"/>
          <p:nvPr/>
        </p:nvSpPr>
        <p:spPr>
          <a:xfrm>
            <a:off x="5281041" y="487832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Frutiger Neue LT Pro" pitchFamily="34" charset="0"/>
                <a:ea typeface="Frutiger Neue LT Pro" pitchFamily="34" charset="-122"/>
                <a:cs typeface="Frutiger Neue LT Pro" pitchFamily="34" charset="-120"/>
              </a:rPr>
              <a:t>11</a:t>
            </a:r>
            <a:endParaRPr lang="en-US" sz="950" dirty="0"/>
          </a:p>
        </p:txBody>
      </p:sp>
      <p:sp>
        <p:nvSpPr>
          <p:cNvPr id="84" name="Text 80"/>
          <p:cNvSpPr txBox="1"/>
          <p:nvPr/>
        </p:nvSpPr>
        <p:spPr>
          <a:xfrm>
            <a:off x="5573649" y="4850892"/>
            <a:ext cx="624954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31146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安排試聽 28</a:t>
            </a:r>
            <a:endParaRPr lang="en-US" sz="1000" dirty="0"/>
          </a:p>
        </p:txBody>
      </p:sp>
      <p:sp>
        <p:nvSpPr>
          <p:cNvPr id="85" name="Text 81"/>
          <p:cNvSpPr txBox="1"/>
          <p:nvPr/>
        </p:nvSpPr>
        <p:spPr>
          <a:xfrm>
            <a:off x="5573649" y="5024628"/>
            <a:ext cx="6249543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840" dirty="0">
                <a:solidFill>
                  <a:srgbClr val="5B5280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本月面談且有繳報名費的 26 ＋ 記名報備 2</a:t>
            </a:r>
            <a:endParaRPr lang="en-US" sz="840" dirty="0"/>
          </a:p>
        </p:txBody>
      </p:sp>
      <p:sp>
        <p:nvSpPr>
          <p:cNvPr id="86" name="Shape 82"/>
          <p:cNvSpPr/>
          <p:nvPr/>
        </p:nvSpPr>
        <p:spPr>
          <a:xfrm>
            <a:off x="5281041" y="5157216"/>
            <a:ext cx="219456" cy="219456"/>
          </a:xfrm>
          <a:prstGeom prst="ellipse">
            <a:avLst/>
          </a:prstGeom>
          <a:solidFill>
            <a:srgbClr val="6633F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87" name="Text 83"/>
          <p:cNvSpPr txBox="1"/>
          <p:nvPr/>
        </p:nvSpPr>
        <p:spPr>
          <a:xfrm>
            <a:off x="5281041" y="515721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Frutiger Neue LT Pro" pitchFamily="34" charset="0"/>
                <a:ea typeface="Frutiger Neue LT Pro" pitchFamily="34" charset="-122"/>
                <a:cs typeface="Frutiger Neue LT Pro" pitchFamily="34" charset="-120"/>
              </a:rPr>
              <a:t>12</a:t>
            </a:r>
            <a:endParaRPr lang="en-US" sz="950" dirty="0"/>
          </a:p>
        </p:txBody>
      </p:sp>
      <p:sp>
        <p:nvSpPr>
          <p:cNvPr id="88" name="Text 84"/>
          <p:cNvSpPr txBox="1"/>
          <p:nvPr/>
        </p:nvSpPr>
        <p:spPr>
          <a:xfrm>
            <a:off x="5573649" y="5129784"/>
            <a:ext cx="624954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31146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8 註冊 / 22 經營中</a:t>
            </a:r>
            <a:endParaRPr lang="en-US" sz="1000" dirty="0"/>
          </a:p>
        </p:txBody>
      </p:sp>
      <p:sp>
        <p:nvSpPr>
          <p:cNvPr id="89" name="Text 85"/>
          <p:cNvSpPr txBox="1"/>
          <p:nvPr/>
        </p:nvSpPr>
        <p:spPr>
          <a:xfrm>
            <a:off x="5573649" y="5303520"/>
            <a:ext cx="6249543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840" dirty="0">
                <a:solidFill>
                  <a:srgbClr val="5B5280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試聽的人裡：8 位已簽（試聽後註冊）、22 位還在追</a:t>
            </a:r>
            <a:endParaRPr lang="en-US" sz="840" dirty="0"/>
          </a:p>
        </p:txBody>
      </p:sp>
      <p:sp>
        <p:nvSpPr>
          <p:cNvPr id="90" name="Shape 86"/>
          <p:cNvSpPr/>
          <p:nvPr/>
        </p:nvSpPr>
        <p:spPr>
          <a:xfrm>
            <a:off x="5281041" y="5436108"/>
            <a:ext cx="219456" cy="219456"/>
          </a:xfrm>
          <a:prstGeom prst="ellipse">
            <a:avLst/>
          </a:prstGeom>
          <a:solidFill>
            <a:srgbClr val="6633F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91" name="Text 87"/>
          <p:cNvSpPr txBox="1"/>
          <p:nvPr/>
        </p:nvSpPr>
        <p:spPr>
          <a:xfrm>
            <a:off x="5281041" y="543610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Frutiger Neue LT Pro" pitchFamily="34" charset="0"/>
                <a:ea typeface="Frutiger Neue LT Pro" pitchFamily="34" charset="-122"/>
                <a:cs typeface="Frutiger Neue LT Pro" pitchFamily="34" charset="-120"/>
              </a:rPr>
              <a:t>13</a:t>
            </a:r>
            <a:endParaRPr lang="en-US" sz="950" dirty="0"/>
          </a:p>
        </p:txBody>
      </p:sp>
      <p:sp>
        <p:nvSpPr>
          <p:cNvPr id="92" name="Text 88"/>
          <p:cNvSpPr txBox="1"/>
          <p:nvPr/>
        </p:nvSpPr>
        <p:spPr>
          <a:xfrm>
            <a:off x="5573649" y="5408676"/>
            <a:ext cx="624954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31146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三個轉換率</a:t>
            </a:r>
            <a:endParaRPr lang="en-US" sz="1000" dirty="0"/>
          </a:p>
        </p:txBody>
      </p:sp>
      <p:sp>
        <p:nvSpPr>
          <p:cNvPr id="93" name="Text 89"/>
          <p:cNvSpPr txBox="1"/>
          <p:nvPr/>
        </p:nvSpPr>
        <p:spPr>
          <a:xfrm>
            <a:off x="5573649" y="5582412"/>
            <a:ext cx="6249543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840" dirty="0">
                <a:solidFill>
                  <a:srgbClr val="5B5280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面談÷報到　試聽÷面談　試聽後註冊÷試聽（綠＝七家最強、紅＝最弱）</a:t>
            </a:r>
            <a:endParaRPr lang="en-US" sz="840" dirty="0"/>
          </a:p>
        </p:txBody>
      </p:sp>
      <p:sp>
        <p:nvSpPr>
          <p:cNvPr id="94" name="Shape 90"/>
          <p:cNvSpPr/>
          <p:nvPr/>
        </p:nvSpPr>
        <p:spPr>
          <a:xfrm>
            <a:off x="5281041" y="5715000"/>
            <a:ext cx="219456" cy="219456"/>
          </a:xfrm>
          <a:prstGeom prst="ellipse">
            <a:avLst/>
          </a:prstGeom>
          <a:solidFill>
            <a:srgbClr val="6633F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95" name="Text 91"/>
          <p:cNvSpPr txBox="1"/>
          <p:nvPr/>
        </p:nvSpPr>
        <p:spPr>
          <a:xfrm>
            <a:off x="5281041" y="571500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Frutiger Neue LT Pro" pitchFamily="34" charset="0"/>
                <a:ea typeface="Frutiger Neue LT Pro" pitchFamily="34" charset="-122"/>
                <a:cs typeface="Frutiger Neue LT Pro" pitchFamily="34" charset="-120"/>
              </a:rPr>
              <a:t>14</a:t>
            </a:r>
            <a:endParaRPr lang="en-US" sz="950" dirty="0"/>
          </a:p>
        </p:txBody>
      </p:sp>
      <p:sp>
        <p:nvSpPr>
          <p:cNvPr id="96" name="Text 92"/>
          <p:cNvSpPr txBox="1"/>
          <p:nvPr/>
        </p:nvSpPr>
        <p:spPr>
          <a:xfrm>
            <a:off x="5573649" y="5687568"/>
            <a:ext cx="624954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31146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名單（可展開）</a:t>
            </a:r>
            <a:endParaRPr lang="en-US" sz="1000" dirty="0"/>
          </a:p>
        </p:txBody>
      </p:sp>
      <p:sp>
        <p:nvSpPr>
          <p:cNvPr id="97" name="Text 93"/>
          <p:cNvSpPr txBox="1"/>
          <p:nvPr/>
        </p:nvSpPr>
        <p:spPr>
          <a:xfrm>
            <a:off x="5573649" y="5861304"/>
            <a:ext cx="6249543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840" dirty="0">
                <a:solidFill>
                  <a:srgbClr val="5B5280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點開有姓名、承辦人、日期、金額，可逐筆核對</a:t>
            </a:r>
            <a:endParaRPr lang="en-US" sz="840" dirty="0"/>
          </a:p>
        </p:txBody>
      </p:sp>
      <p:sp>
        <p:nvSpPr>
          <p:cNvPr id="98" name="Shape 94"/>
          <p:cNvSpPr/>
          <p:nvPr/>
        </p:nvSpPr>
        <p:spPr>
          <a:xfrm>
            <a:off x="5281041" y="5993892"/>
            <a:ext cx="219456" cy="219456"/>
          </a:xfrm>
          <a:prstGeom prst="ellipse">
            <a:avLst/>
          </a:prstGeom>
          <a:solidFill>
            <a:srgbClr val="6633F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99" name="Text 95"/>
          <p:cNvSpPr txBox="1"/>
          <p:nvPr/>
        </p:nvSpPr>
        <p:spPr>
          <a:xfrm>
            <a:off x="5281041" y="599389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Frutiger Neue LT Pro" pitchFamily="34" charset="0"/>
                <a:ea typeface="Frutiger Neue LT Pro" pitchFamily="34" charset="-122"/>
                <a:cs typeface="Frutiger Neue LT Pro" pitchFamily="34" charset="-120"/>
              </a:rPr>
              <a:t>15</a:t>
            </a:r>
            <a:endParaRPr lang="en-US" sz="950" dirty="0"/>
          </a:p>
        </p:txBody>
      </p:sp>
      <p:sp>
        <p:nvSpPr>
          <p:cNvPr id="100" name="Text 96"/>
          <p:cNvSpPr txBox="1"/>
          <p:nvPr/>
        </p:nvSpPr>
        <p:spPr>
          <a:xfrm>
            <a:off x="5573649" y="5966460"/>
            <a:ext cx="624954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31146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手填欄位</a:t>
            </a:r>
            <a:endParaRPr lang="en-US" sz="1000" dirty="0"/>
          </a:p>
        </p:txBody>
      </p:sp>
      <p:sp>
        <p:nvSpPr>
          <p:cNvPr id="101" name="Text 97"/>
          <p:cNvSpPr txBox="1"/>
          <p:nvPr/>
        </p:nvSpPr>
        <p:spPr>
          <a:xfrm>
            <a:off x="5573649" y="6140196"/>
            <a:ext cx="6249543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840" dirty="0">
                <a:solidFill>
                  <a:srgbClr val="5B5280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平常空著就好；填了會覆寫自動值。報備試聽在這裡記名</a:t>
            </a:r>
            <a:endParaRPr lang="en-US" sz="84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pplaud-logo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65760"/>
            <a:ext cx="548640" cy="44456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15568" y="457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Frutiger Neue LT Pro" pitchFamily="34" charset="0"/>
                <a:ea typeface="Frutiger Neue LT Pro" pitchFamily="34" charset="-122"/>
                <a:cs typeface="Frutiger Neue LT Pro" pitchFamily="34" charset="-120"/>
              </a:rPr>
              <a:t>HOW TO USE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8257032" y="164592"/>
            <a:ext cx="347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0" b="1" dirty="0">
                <a:solidFill>
                  <a:srgbClr val="FFFFFF">
                    <a:alpha val="22000"/>
                  </a:srgbClr>
                </a:solidFill>
                <a:latin typeface="Frutiger Neue LT Pro" pitchFamily="34" charset="0"/>
                <a:ea typeface="Frutiger Neue LT Pro" pitchFamily="34" charset="-122"/>
                <a:cs typeface="Frutiger Neue LT Pro" pitchFamily="34" charset="-120"/>
              </a:rPr>
              <a:t>SOP</a:t>
            </a:r>
            <a:endParaRPr lang="en-US" sz="80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005840"/>
            <a:ext cx="9144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9E4FF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業務要做的只有一件事：把名單留在系統裡。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444752"/>
            <a:ext cx="10058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資料乾淨，</a:t>
            </a:r>
            <a:pPr indent="0" marL="0">
              <a:buNone/>
            </a:pPr>
            <a:r>
              <a:rPr lang="en-US" sz="2900" b="1" dirty="0">
                <a:solidFill>
                  <a:srgbClr val="CAFF33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數字才會替你說話</a:t>
            </a:r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。</a:t>
            </a:r>
            <a:endParaRPr lang="en-US" sz="2900" dirty="0"/>
          </a:p>
        </p:txBody>
      </p:sp>
      <p:sp>
        <p:nvSpPr>
          <p:cNvPr id="7" name="Shape 4"/>
          <p:cNvSpPr/>
          <p:nvPr/>
        </p:nvSpPr>
        <p:spPr>
          <a:xfrm>
            <a:off x="457200" y="2286000"/>
            <a:ext cx="8321040" cy="932688"/>
          </a:xfrm>
          <a:prstGeom prst="roundRect">
            <a:avLst>
              <a:gd name="adj" fmla="val 12745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58368" y="2505456"/>
            <a:ext cx="502920" cy="502920"/>
          </a:xfrm>
          <a:prstGeom prst="ellipse">
            <a:avLst/>
          </a:prstGeom>
          <a:solidFill>
            <a:srgbClr val="CAFF33"/>
          </a:solidFill>
          <a:ln w="12700">
            <a:solidFill>
              <a:srgbClr val="CAFF3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58368" y="25054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31146"/>
                </a:solidFill>
                <a:latin typeface="Frutiger Neue LT Pro" pitchFamily="34" charset="0"/>
                <a:ea typeface="Frutiger Neue LT Pro" pitchFamily="34" charset="-122"/>
                <a:cs typeface="Frutiger Neue LT Pro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325880" y="241401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面談完當天就建檔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1325880" y="2743200"/>
            <a:ext cx="7223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1EEFF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面談紀錄沒建，這個人就不會出現在漏斗裡 —— 你的功勞會消失。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57200" y="3337560"/>
            <a:ext cx="8321040" cy="932688"/>
          </a:xfrm>
          <a:prstGeom prst="roundRect">
            <a:avLst>
              <a:gd name="adj" fmla="val 12745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8368" y="3557016"/>
            <a:ext cx="502920" cy="502920"/>
          </a:xfrm>
          <a:prstGeom prst="ellipse">
            <a:avLst/>
          </a:prstGeom>
          <a:solidFill>
            <a:srgbClr val="CAFF33"/>
          </a:solidFill>
          <a:ln w="12700">
            <a:solidFill>
              <a:srgbClr val="CAFF3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58368" y="35570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31146"/>
                </a:solidFill>
                <a:latin typeface="Frutiger Neue LT Pro" pitchFamily="34" charset="0"/>
                <a:ea typeface="Frutiger Neue LT Pro" pitchFamily="34" charset="-122"/>
                <a:cs typeface="Frutiger Neue LT Pro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1325880" y="346557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有安排試聽就記錄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1325880" y="3794760"/>
            <a:ext cx="7223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1EEFF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有繳 100 元系統自動抓；沒繳但你有安排 → 請主管在卡片「報備試聽名單」記名。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57200" y="4389120"/>
            <a:ext cx="8321040" cy="932688"/>
          </a:xfrm>
          <a:prstGeom prst="roundRect">
            <a:avLst>
              <a:gd name="adj" fmla="val 12745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58368" y="4608576"/>
            <a:ext cx="502920" cy="502920"/>
          </a:xfrm>
          <a:prstGeom prst="ellipse">
            <a:avLst/>
          </a:prstGeom>
          <a:solidFill>
            <a:srgbClr val="CAFF33"/>
          </a:solidFill>
          <a:ln w="12700">
            <a:solidFill>
              <a:srgbClr val="CAFF33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8368" y="46085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31146"/>
                </a:solidFill>
                <a:latin typeface="Frutiger Neue LT Pro" pitchFamily="34" charset="0"/>
                <a:ea typeface="Frutiger Neue LT Pro" pitchFamily="34" charset="-122"/>
                <a:cs typeface="Frutiger Neue LT Pro" pitchFamily="34" charset="-120"/>
              </a:rPr>
              <a:t>03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1325880" y="451713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金額要進 EIP 才算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1325880" y="4846320"/>
            <a:ext cx="7223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1EEFF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未達 2 萬會被列「經營中」而不是註冊。分期／補繳請確認收支日期落在當月。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457200" y="5440680"/>
            <a:ext cx="8321040" cy="932688"/>
          </a:xfrm>
          <a:prstGeom prst="roundRect">
            <a:avLst>
              <a:gd name="adj" fmla="val 12745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58368" y="5660136"/>
            <a:ext cx="502920" cy="502920"/>
          </a:xfrm>
          <a:prstGeom prst="ellipse">
            <a:avLst/>
          </a:prstGeom>
          <a:solidFill>
            <a:srgbClr val="CAFF33"/>
          </a:solidFill>
          <a:ln w="12700">
            <a:solidFill>
              <a:srgbClr val="CAFF33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56601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31146"/>
                </a:solidFill>
                <a:latin typeface="Frutiger Neue LT Pro" pitchFamily="34" charset="0"/>
                <a:ea typeface="Frutiger Neue LT Pro" pitchFamily="34" charset="-122"/>
                <a:cs typeface="Frutiger Neue LT Pro" pitchFamily="34" charset="-120"/>
              </a:rPr>
              <a:t>04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1325880" y="556869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每月 5 號前看一次卡片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1325880" y="5897880"/>
            <a:ext cx="7223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1EEFF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先看自己那家的「經營中／經營池」名單 —— 那就是你這個月最該打的電話。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9006840" y="2286000"/>
            <a:ext cx="2724912" cy="2212848"/>
          </a:xfrm>
          <a:prstGeom prst="roundRect">
            <a:avLst>
              <a:gd name="adj" fmla="val 5372"/>
            </a:avLst>
          </a:prstGeom>
          <a:solidFill>
            <a:srgbClr val="231146">
              <a:alpha val="78000"/>
            </a:srgbClr>
          </a:solidFill>
          <a:ln w="9525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189720" y="243230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FF33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常見誤解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9189720" y="276148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「面談比報到多是錯的」</a:t>
            </a:r>
            <a:endParaRPr lang="en-US" sz="950" dirty="0"/>
          </a:p>
        </p:txBody>
      </p:sp>
      <p:sp>
        <p:nvSpPr>
          <p:cNvPr id="30" name="Text 27"/>
          <p:cNvSpPr txBox="1"/>
          <p:nvPr/>
        </p:nvSpPr>
        <p:spPr>
          <a:xfrm>
            <a:off x="9189720" y="294436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E4FF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正常，含班務／舊名單</a:t>
            </a:r>
            <a:endParaRPr lang="en-US" sz="900" dirty="0"/>
          </a:p>
        </p:txBody>
      </p:sp>
      <p:sp>
        <p:nvSpPr>
          <p:cNvPr id="31" name="Text 28"/>
          <p:cNvSpPr txBox="1"/>
          <p:nvPr/>
        </p:nvSpPr>
        <p:spPr>
          <a:xfrm>
            <a:off x="9189720" y="319125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「追回不是我的功勞」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9189720" y="337413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E4FF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是前幾個月經營的收成</a:t>
            </a:r>
            <a:endParaRPr lang="en-US" sz="900" dirty="0"/>
          </a:p>
        </p:txBody>
      </p:sp>
      <p:sp>
        <p:nvSpPr>
          <p:cNvPr id="33" name="Text 30"/>
          <p:cNvSpPr txBox="1"/>
          <p:nvPr/>
        </p:nvSpPr>
        <p:spPr>
          <a:xfrm>
            <a:off x="9189720" y="362102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「人頭怎麼那麼多」</a:t>
            </a:r>
            <a:endParaRPr lang="en-US" sz="950" dirty="0"/>
          </a:p>
        </p:txBody>
      </p:sp>
      <p:sp>
        <p:nvSpPr>
          <p:cNvPr id="34" name="Text 31"/>
          <p:cNvSpPr txBox="1"/>
          <p:nvPr/>
        </p:nvSpPr>
        <p:spPr>
          <a:xfrm>
            <a:off x="9189720" y="380390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E4FF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大字已排除舊生加購</a:t>
            </a:r>
            <a:endParaRPr lang="en-US" sz="900" dirty="0"/>
          </a:p>
        </p:txBody>
      </p:sp>
      <p:sp>
        <p:nvSpPr>
          <p:cNvPr id="35" name="Text 32"/>
          <p:cNvSpPr txBox="1"/>
          <p:nvPr/>
        </p:nvSpPr>
        <p:spPr>
          <a:xfrm>
            <a:off x="9189720" y="405079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「Ⓐ-1 是壞掉」</a:t>
            </a:r>
            <a:endParaRPr lang="en-US" sz="950" dirty="0"/>
          </a:p>
        </p:txBody>
      </p:sp>
      <p:sp>
        <p:nvSpPr>
          <p:cNvPr id="36" name="Text 33"/>
          <p:cNvSpPr txBox="1"/>
          <p:nvPr/>
        </p:nvSpPr>
        <p:spPr>
          <a:xfrm>
            <a:off x="9189720" y="423367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E4FF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對帳章，差 1 位而已</a:t>
            </a:r>
            <a:endParaRPr lang="en-US" sz="900" dirty="0"/>
          </a:p>
        </p:txBody>
      </p:sp>
      <p:pic>
        <p:nvPicPr>
          <p:cNvPr id="37" name="Image 1" descr="appa-thumbsu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0" y="4617720"/>
            <a:ext cx="777240" cy="1842347"/>
          </a:xfrm>
          <a:prstGeom prst="rect">
            <a:avLst/>
          </a:prstGeom>
        </p:spPr>
      </p:pic>
      <p:sp>
        <p:nvSpPr>
          <p:cNvPr id="38" name="Text 34"/>
          <p:cNvSpPr txBox="1"/>
          <p:nvPr/>
        </p:nvSpPr>
        <p:spPr>
          <a:xfrm>
            <a:off x="457200" y="645566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9E4FF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APPLAUD · 赫綵設計學院　｜　業績數據中心 → 月度漏斗總結</a:t>
            </a:r>
            <a:endParaRPr lang="en-US" sz="800" dirty="0"/>
          </a:p>
        </p:txBody>
      </p:sp>
      <p:sp>
        <p:nvSpPr>
          <p:cNvPr id="39" name="Text 35"/>
          <p:cNvSpPr txBox="1"/>
          <p:nvPr/>
        </p:nvSpPr>
        <p:spPr>
          <a:xfrm>
            <a:off x="10817352" y="645566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9E4FF"/>
                </a:solidFill>
                <a:latin typeface="Frutiger Neue LT Pro" pitchFamily="34" charset="0"/>
                <a:ea typeface="Frutiger Neue LT Pro" pitchFamily="34" charset="-122"/>
                <a:cs typeface="Frutiger Neue LT Pro" pitchFamily="34" charset="-120"/>
              </a:rPr>
              <a:t>09 / 09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2026-09-04T06:44:00Z</dcterms:created>
  <dcterms:modified xsi:type="dcterms:W3CDTF">2026-09-04T06:44:00Z</dcterms:modified>
</cp:coreProperties>
</file>