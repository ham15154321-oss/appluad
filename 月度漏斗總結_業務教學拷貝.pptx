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62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這頁一個一個對著看。特別講 ⑧：Ⓐ±N 是對帳章，✓ 代表跟 EIP 完全一致。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6633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ANATOMY</a:t>
            </a:r>
            <a:endParaRPr lang="en-US" sz="850" dirty="0"/>
          </a:p>
        </p:txBody>
      </p:sp>
      <p:pic>
        <p:nvPicPr>
          <p:cNvPr id="4" name="Image 0" descr="logo-15th-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301752"/>
            <a:ext cx="8686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一張卡上的每個數字，分別從哪來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以 8 月・高雄建國為例，照號碼看右邊說明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55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86B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APPLAUD · 赫綵設計學院　｜　月度漏斗總結・業務教學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455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86B0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08 / 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" y="1572768"/>
            <a:ext cx="4622673" cy="481888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E4DEFF"/>
            </a:solidFill>
            <a:prstDash val="solid"/>
          </a:ln>
        </p:spPr>
      </p:sp>
      <p:pic>
        <p:nvPicPr>
          <p:cNvPr id="10" name="Image 1" descr="card_k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627632"/>
            <a:ext cx="4512945" cy="4709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2966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2966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014739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14739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1453887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453887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1883691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883691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402259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402259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079668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079668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6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780436" y="24218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780436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7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364409" y="2421836"/>
            <a:ext cx="219456" cy="219456"/>
          </a:xfrm>
          <a:prstGeom prst="ellipse">
            <a:avLst/>
          </a:prstGeom>
          <a:solidFill>
            <a:srgbClr val="D63A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364409" y="24218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8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038098" y="326275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38098" y="3262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9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1949096" y="326275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949096" y="3262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10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864766" y="326275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864766" y="3262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11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920590" y="326275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920590" y="3262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12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96171" y="3552408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96171" y="3552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13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96171" y="5094097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96171" y="509409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14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513907" y="5607993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513907" y="560799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15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5281041" y="1572768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281041" y="1572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5573649" y="1545336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註冊Ⓐ 24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5573649" y="1719072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當月績效原始值（新名單註冊）</a:t>
            </a:r>
            <a:endParaRPr lang="en-US" sz="840" dirty="0"/>
          </a:p>
        </p:txBody>
      </p:sp>
      <p:sp>
        <p:nvSpPr>
          <p:cNvPr id="45" name="Shape 41"/>
          <p:cNvSpPr/>
          <p:nvPr/>
        </p:nvSpPr>
        <p:spPr>
          <a:xfrm>
            <a:off x="5281041" y="1851660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281041" y="18516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2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5573649" y="1824228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當下 15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5573649" y="1997964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Ⓐ 名單・本月面談・≥2萬・註冊−面談 ≤3 天</a:t>
            </a:r>
            <a:endParaRPr lang="en-US" sz="840" dirty="0"/>
          </a:p>
        </p:txBody>
      </p:sp>
      <p:sp>
        <p:nvSpPr>
          <p:cNvPr id="49" name="Shape 45"/>
          <p:cNvSpPr/>
          <p:nvPr/>
        </p:nvSpPr>
        <p:spPr>
          <a:xfrm>
            <a:off x="5281041" y="2130552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281041" y="2130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3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5573649" y="2103120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註冊Ⓑ 57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5573649" y="2276856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當月績效原始值（舊名單註冊，含舊生加購）</a:t>
            </a:r>
            <a:endParaRPr lang="en-US" sz="840" dirty="0"/>
          </a:p>
        </p:txBody>
      </p:sp>
      <p:sp>
        <p:nvSpPr>
          <p:cNvPr id="53" name="Shape 49"/>
          <p:cNvSpPr/>
          <p:nvPr/>
        </p:nvSpPr>
        <p:spPr>
          <a:xfrm>
            <a:off x="5281041" y="2409444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281041" y="24094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4</a:t>
            </a:r>
            <a:endParaRPr lang="en-US" sz="950" dirty="0"/>
          </a:p>
        </p:txBody>
      </p:sp>
      <p:sp>
        <p:nvSpPr>
          <p:cNvPr id="55" name="Text 51"/>
          <p:cNvSpPr txBox="1"/>
          <p:nvPr/>
        </p:nvSpPr>
        <p:spPr>
          <a:xfrm>
            <a:off x="5573649" y="2382012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追回 21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5573649" y="2555748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Ⓑ 舊名單本月簽 ＋ 3 個月內無面談紀錄者（≥2萬）</a:t>
            </a:r>
            <a:endParaRPr lang="en-US" sz="840" dirty="0"/>
          </a:p>
        </p:txBody>
      </p:sp>
      <p:sp>
        <p:nvSpPr>
          <p:cNvPr id="57" name="Shape 53"/>
          <p:cNvSpPr/>
          <p:nvPr/>
        </p:nvSpPr>
        <p:spPr>
          <a:xfrm>
            <a:off x="5281041" y="268833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5281041" y="2688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5</a:t>
            </a:r>
            <a:endParaRPr lang="en-US" sz="950" dirty="0"/>
          </a:p>
        </p:txBody>
      </p:sp>
      <p:sp>
        <p:nvSpPr>
          <p:cNvPr id="59" name="Text 55"/>
          <p:cNvSpPr txBox="1"/>
          <p:nvPr/>
        </p:nvSpPr>
        <p:spPr>
          <a:xfrm>
            <a:off x="5573649" y="2660904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科數 56（含加購 91）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5573649" y="2834640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本月每筆註冊 ≥2萬＝1 科；大字排除「學員加購」</a:t>
            </a:r>
            <a:endParaRPr lang="en-US" sz="840" dirty="0"/>
          </a:p>
        </p:txBody>
      </p:sp>
      <p:sp>
        <p:nvSpPr>
          <p:cNvPr id="61" name="Shape 57"/>
          <p:cNvSpPr/>
          <p:nvPr/>
        </p:nvSpPr>
        <p:spPr>
          <a:xfrm>
            <a:off x="5281041" y="2967228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5281041" y="29672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6</a:t>
            </a:r>
            <a:endParaRPr lang="en-US" sz="950" dirty="0"/>
          </a:p>
        </p:txBody>
      </p:sp>
      <p:sp>
        <p:nvSpPr>
          <p:cNvPr id="63" name="Text 59"/>
          <p:cNvSpPr txBox="1"/>
          <p:nvPr/>
        </p:nvSpPr>
        <p:spPr>
          <a:xfrm>
            <a:off x="5573649" y="2939796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人頭 44（含加購 77）</a:t>
            </a:r>
            <a:endParaRPr lang="en-US" sz="1000" dirty="0"/>
          </a:p>
        </p:txBody>
      </p:sp>
      <p:sp>
        <p:nvSpPr>
          <p:cNvPr id="64" name="Text 60"/>
          <p:cNvSpPr txBox="1"/>
          <p:nvPr/>
        </p:nvSpPr>
        <p:spPr>
          <a:xfrm>
            <a:off x="5573649" y="3113532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同一姓名本月註冊加總 ≥2萬＝1 人頭；大字排除加購</a:t>
            </a:r>
            <a:endParaRPr lang="en-US" sz="840" dirty="0"/>
          </a:p>
        </p:txBody>
      </p:sp>
      <p:sp>
        <p:nvSpPr>
          <p:cNvPr id="65" name="Shape 61"/>
          <p:cNvSpPr/>
          <p:nvPr/>
        </p:nvSpPr>
        <p:spPr>
          <a:xfrm>
            <a:off x="5281041" y="3246120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5281041" y="32461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7</a:t>
            </a:r>
            <a:endParaRPr lang="en-US" sz="950" dirty="0"/>
          </a:p>
        </p:txBody>
      </p:sp>
      <p:sp>
        <p:nvSpPr>
          <p:cNvPr id="67" name="Text 63"/>
          <p:cNvSpPr txBox="1"/>
          <p:nvPr/>
        </p:nvSpPr>
        <p:spPr>
          <a:xfrm>
            <a:off x="5573649" y="3218688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新業績 148 萬</a:t>
            </a:r>
            <a:endParaRPr lang="en-US" sz="1000" dirty="0"/>
          </a:p>
        </p:txBody>
      </p:sp>
      <p:sp>
        <p:nvSpPr>
          <p:cNvPr id="68" name="Text 64"/>
          <p:cNvSpPr txBox="1"/>
          <p:nvPr/>
        </p:nvSpPr>
        <p:spPr>
          <a:xfrm>
            <a:off x="5573649" y="3392424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當月績效的 new_perf 加總</a:t>
            </a:r>
            <a:endParaRPr lang="en-US" sz="840" dirty="0"/>
          </a:p>
        </p:txBody>
      </p:sp>
      <p:sp>
        <p:nvSpPr>
          <p:cNvPr id="69" name="Shape 65"/>
          <p:cNvSpPr/>
          <p:nvPr/>
        </p:nvSpPr>
        <p:spPr>
          <a:xfrm>
            <a:off x="5207889" y="3616452"/>
            <a:ext cx="6651879" cy="603504"/>
          </a:xfrm>
          <a:prstGeom prst="roundRect">
            <a:avLst>
              <a:gd name="adj" fmla="val 12121"/>
            </a:avLst>
          </a:prstGeom>
          <a:solidFill>
            <a:srgbClr val="FFF1F0"/>
          </a:solidFill>
          <a:ln w="9525">
            <a:solidFill>
              <a:srgbClr val="D63A2F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5281041" y="3662172"/>
            <a:ext cx="219456" cy="219456"/>
          </a:xfrm>
          <a:prstGeom prst="ellipse">
            <a:avLst/>
          </a:prstGeom>
          <a:solidFill>
            <a:srgbClr val="D63A2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5281041" y="36621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8</a:t>
            </a:r>
            <a:endParaRPr lang="en-US" sz="950" dirty="0"/>
          </a:p>
        </p:txBody>
      </p:sp>
      <p:sp>
        <p:nvSpPr>
          <p:cNvPr id="72" name="Text 68"/>
          <p:cNvSpPr txBox="1"/>
          <p:nvPr/>
        </p:nvSpPr>
        <p:spPr>
          <a:xfrm>
            <a:off x="5573649" y="3634740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A2F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自動 Ⓐ-1　← 這是「對帳章」</a:t>
            </a:r>
            <a:endParaRPr lang="en-US" sz="1000" dirty="0"/>
          </a:p>
        </p:txBody>
      </p:sp>
      <p:sp>
        <p:nvSpPr>
          <p:cNvPr id="73" name="Text 69"/>
          <p:cNvSpPr txBox="1"/>
          <p:nvPr/>
        </p:nvSpPr>
        <p:spPr>
          <a:xfrm>
            <a:off x="5573649" y="3808476"/>
            <a:ext cx="62495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我算的 當下15＋試聽後8＝23，EIP 註冊Ⓐ＝24，差 1 位。顯示 Ⓐ✓ 代表完全對上；±N 多半是跨月入帳或解約造成，不影響其他數字。</a:t>
            </a:r>
            <a:endParaRPr lang="en-US" sz="840" dirty="0"/>
          </a:p>
        </p:txBody>
      </p:sp>
      <p:sp>
        <p:nvSpPr>
          <p:cNvPr id="74" name="Shape 70"/>
          <p:cNvSpPr/>
          <p:nvPr/>
        </p:nvSpPr>
        <p:spPr>
          <a:xfrm>
            <a:off x="5281041" y="4320540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5281041" y="43205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9</a:t>
            </a:r>
            <a:endParaRPr lang="en-US" sz="950" dirty="0"/>
          </a:p>
        </p:txBody>
      </p:sp>
      <p:sp>
        <p:nvSpPr>
          <p:cNvPr id="76" name="Text 72"/>
          <p:cNvSpPr txBox="1"/>
          <p:nvPr/>
        </p:nvSpPr>
        <p:spPr>
          <a:xfrm>
            <a:off x="5573649" y="4293108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總報到 146</a:t>
            </a:r>
            <a:endParaRPr lang="en-US" sz="1000" dirty="0"/>
          </a:p>
        </p:txBody>
      </p:sp>
      <p:sp>
        <p:nvSpPr>
          <p:cNvPr id="77" name="Text 73"/>
          <p:cNvSpPr txBox="1"/>
          <p:nvPr/>
        </p:nvSpPr>
        <p:spPr>
          <a:xfrm>
            <a:off x="5573649" y="4466844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報到排名（本月已報到）</a:t>
            </a:r>
            <a:endParaRPr lang="en-US" sz="840" dirty="0"/>
          </a:p>
        </p:txBody>
      </p:sp>
      <p:sp>
        <p:nvSpPr>
          <p:cNvPr id="78" name="Shape 74"/>
          <p:cNvSpPr/>
          <p:nvPr/>
        </p:nvSpPr>
        <p:spPr>
          <a:xfrm>
            <a:off x="5281041" y="4599432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5281041" y="4599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10</a:t>
            </a:r>
            <a:endParaRPr lang="en-US" sz="950" dirty="0"/>
          </a:p>
        </p:txBody>
      </p:sp>
      <p:sp>
        <p:nvSpPr>
          <p:cNvPr id="80" name="Text 76"/>
          <p:cNvSpPr txBox="1"/>
          <p:nvPr/>
        </p:nvSpPr>
        <p:spPr>
          <a:xfrm>
            <a:off x="5573649" y="4572000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實際面談 160</a:t>
            </a:r>
            <a:endParaRPr lang="en-US" sz="1000" dirty="0"/>
          </a:p>
        </p:txBody>
      </p:sp>
      <p:sp>
        <p:nvSpPr>
          <p:cNvPr id="81" name="Text 77"/>
          <p:cNvSpPr txBox="1"/>
          <p:nvPr/>
        </p:nvSpPr>
        <p:spPr>
          <a:xfrm>
            <a:off x="5573649" y="4745736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EIP 當月績效面談數加總（含班務／舊名單，所以會 &gt;報到）</a:t>
            </a:r>
            <a:endParaRPr lang="en-US" sz="840" dirty="0"/>
          </a:p>
        </p:txBody>
      </p:sp>
      <p:sp>
        <p:nvSpPr>
          <p:cNvPr id="82" name="Shape 78"/>
          <p:cNvSpPr/>
          <p:nvPr/>
        </p:nvSpPr>
        <p:spPr>
          <a:xfrm>
            <a:off x="5281041" y="4878324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5281041" y="48783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11</a:t>
            </a:r>
            <a:endParaRPr lang="en-US" sz="950" dirty="0"/>
          </a:p>
        </p:txBody>
      </p:sp>
      <p:sp>
        <p:nvSpPr>
          <p:cNvPr id="84" name="Text 80"/>
          <p:cNvSpPr txBox="1"/>
          <p:nvPr/>
        </p:nvSpPr>
        <p:spPr>
          <a:xfrm>
            <a:off x="5573649" y="4850892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安排試聽 28</a:t>
            </a:r>
            <a:endParaRPr lang="en-US" sz="1000" dirty="0"/>
          </a:p>
        </p:txBody>
      </p:sp>
      <p:sp>
        <p:nvSpPr>
          <p:cNvPr id="85" name="Text 81"/>
          <p:cNvSpPr txBox="1"/>
          <p:nvPr/>
        </p:nvSpPr>
        <p:spPr>
          <a:xfrm>
            <a:off x="5573649" y="5024628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本月面談且有繳報名費的 26 ＋ 記名報備 2</a:t>
            </a:r>
            <a:endParaRPr lang="en-US" sz="840" dirty="0"/>
          </a:p>
        </p:txBody>
      </p:sp>
      <p:sp>
        <p:nvSpPr>
          <p:cNvPr id="86" name="Shape 82"/>
          <p:cNvSpPr/>
          <p:nvPr/>
        </p:nvSpPr>
        <p:spPr>
          <a:xfrm>
            <a:off x="5281041" y="5157216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5281041" y="51572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12</a:t>
            </a:r>
            <a:endParaRPr lang="en-US" sz="950" dirty="0"/>
          </a:p>
        </p:txBody>
      </p:sp>
      <p:sp>
        <p:nvSpPr>
          <p:cNvPr id="88" name="Text 84"/>
          <p:cNvSpPr txBox="1"/>
          <p:nvPr/>
        </p:nvSpPr>
        <p:spPr>
          <a:xfrm>
            <a:off x="5573649" y="5129784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8 註冊 / 22 經營中</a:t>
            </a:r>
            <a:endParaRPr lang="en-US" sz="1000" dirty="0"/>
          </a:p>
        </p:txBody>
      </p:sp>
      <p:sp>
        <p:nvSpPr>
          <p:cNvPr id="89" name="Text 85"/>
          <p:cNvSpPr txBox="1"/>
          <p:nvPr/>
        </p:nvSpPr>
        <p:spPr>
          <a:xfrm>
            <a:off x="5573649" y="5303520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試聽的人裡：8 位已簽（試聽後註冊）、22 位還在追</a:t>
            </a:r>
            <a:endParaRPr lang="en-US" sz="840" dirty="0"/>
          </a:p>
        </p:txBody>
      </p:sp>
      <p:sp>
        <p:nvSpPr>
          <p:cNvPr id="90" name="Shape 86"/>
          <p:cNvSpPr/>
          <p:nvPr/>
        </p:nvSpPr>
        <p:spPr>
          <a:xfrm>
            <a:off x="5281041" y="5436108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1" name="Text 87"/>
          <p:cNvSpPr txBox="1"/>
          <p:nvPr/>
        </p:nvSpPr>
        <p:spPr>
          <a:xfrm>
            <a:off x="5281041" y="54361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13</a:t>
            </a:r>
            <a:endParaRPr lang="en-US" sz="950" dirty="0"/>
          </a:p>
        </p:txBody>
      </p:sp>
      <p:sp>
        <p:nvSpPr>
          <p:cNvPr id="92" name="Text 88"/>
          <p:cNvSpPr txBox="1"/>
          <p:nvPr/>
        </p:nvSpPr>
        <p:spPr>
          <a:xfrm>
            <a:off x="5573649" y="5408676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三個轉換率</a:t>
            </a:r>
            <a:endParaRPr lang="en-US" sz="1000" dirty="0"/>
          </a:p>
        </p:txBody>
      </p:sp>
      <p:sp>
        <p:nvSpPr>
          <p:cNvPr id="93" name="Text 89"/>
          <p:cNvSpPr txBox="1"/>
          <p:nvPr/>
        </p:nvSpPr>
        <p:spPr>
          <a:xfrm>
            <a:off x="5573649" y="5582412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面談÷報到　試聽÷面談　試聽後註冊÷試聽（綠＝七家最強、紅＝最弱）</a:t>
            </a:r>
            <a:endParaRPr lang="en-US" sz="840" dirty="0"/>
          </a:p>
        </p:txBody>
      </p:sp>
      <p:sp>
        <p:nvSpPr>
          <p:cNvPr id="94" name="Shape 90"/>
          <p:cNvSpPr/>
          <p:nvPr/>
        </p:nvSpPr>
        <p:spPr>
          <a:xfrm>
            <a:off x="5281041" y="5715000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5281041" y="5715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14</a:t>
            </a:r>
            <a:endParaRPr lang="en-US" sz="950" dirty="0"/>
          </a:p>
        </p:txBody>
      </p:sp>
      <p:sp>
        <p:nvSpPr>
          <p:cNvPr id="96" name="Text 92"/>
          <p:cNvSpPr txBox="1"/>
          <p:nvPr/>
        </p:nvSpPr>
        <p:spPr>
          <a:xfrm>
            <a:off x="5573649" y="5687568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名單（可展開）</a:t>
            </a:r>
            <a:endParaRPr lang="en-US" sz="1000" dirty="0"/>
          </a:p>
        </p:txBody>
      </p:sp>
      <p:sp>
        <p:nvSpPr>
          <p:cNvPr id="97" name="Text 93"/>
          <p:cNvSpPr txBox="1"/>
          <p:nvPr/>
        </p:nvSpPr>
        <p:spPr>
          <a:xfrm>
            <a:off x="5573649" y="5861304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點開有姓名、承辦人、日期、金額，可逐筆核對</a:t>
            </a:r>
            <a:endParaRPr lang="en-US" sz="840" dirty="0"/>
          </a:p>
        </p:txBody>
      </p:sp>
      <p:sp>
        <p:nvSpPr>
          <p:cNvPr id="98" name="Shape 94"/>
          <p:cNvSpPr/>
          <p:nvPr/>
        </p:nvSpPr>
        <p:spPr>
          <a:xfrm>
            <a:off x="5281041" y="5993892"/>
            <a:ext cx="219456" cy="219456"/>
          </a:xfrm>
          <a:prstGeom prst="ellipse">
            <a:avLst/>
          </a:prstGeom>
          <a:solidFill>
            <a:srgbClr val="6633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5281041" y="59938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utiger Neue LT Pro" pitchFamily="34" charset="0"/>
                <a:ea typeface="Frutiger Neue LT Pro" pitchFamily="34" charset="-122"/>
                <a:cs typeface="Frutiger Neue LT Pro" pitchFamily="34" charset="-120"/>
              </a:rPr>
              <a:t>15</a:t>
            </a:r>
            <a:endParaRPr lang="en-US" sz="950" dirty="0"/>
          </a:p>
        </p:txBody>
      </p:sp>
      <p:sp>
        <p:nvSpPr>
          <p:cNvPr id="100" name="Text 96"/>
          <p:cNvSpPr txBox="1"/>
          <p:nvPr/>
        </p:nvSpPr>
        <p:spPr>
          <a:xfrm>
            <a:off x="5573649" y="5966460"/>
            <a:ext cx="624954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1146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手填欄位</a:t>
            </a:r>
            <a:endParaRPr lang="en-US" sz="1000" dirty="0"/>
          </a:p>
        </p:txBody>
      </p:sp>
      <p:sp>
        <p:nvSpPr>
          <p:cNvPr id="101" name="Text 97"/>
          <p:cNvSpPr txBox="1"/>
          <p:nvPr/>
        </p:nvSpPr>
        <p:spPr>
          <a:xfrm>
            <a:off x="5573649" y="6140196"/>
            <a:ext cx="624954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dirty="0">
                <a:solidFill>
                  <a:srgbClr val="5B5280"/>
                </a:solidFill>
                <a:latin typeface="夢源黑體" pitchFamily="34" charset="0"/>
                <a:ea typeface="夢源黑體" pitchFamily="34" charset="-122"/>
                <a:cs typeface="夢源黑體" pitchFamily="34" charset="-120"/>
              </a:rPr>
              <a:t>平常空著就好；填了會覆寫自動值。報備試聽在這裡記名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Macintosh PowerPoint</Application>
  <PresentationFormat>寬螢幕</PresentationFormat>
  <Paragraphs>67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夢源黑體</vt:lpstr>
      <vt:lpstr>Frutiger Neue LT Pro</vt:lpstr>
      <vt:lpstr>Arial</vt:lpstr>
      <vt:lpstr>Office Theme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Ivan</cp:lastModifiedBy>
  <cp:revision>2</cp:revision>
  <dcterms:created xsi:type="dcterms:W3CDTF">2026-09-04T06:44:00Z</dcterms:created>
  <dcterms:modified xsi:type="dcterms:W3CDTF">2026-09-04T07:20:25Z</dcterms:modified>
</cp:coreProperties>
</file>